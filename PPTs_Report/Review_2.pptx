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3EE979BF-8F2A-B397-5C86-309FCA047641}">
          <p14:sldIdLst>
            <p14:sldId id="256"/>
          </p14:sldIdLst>
        </p14:section>
        <p14:section name="Overview" id="{23C464AA-9DE0-4799-01B0-31E3F41A1FB0}">
          <p14:sldIdLst>
            <p14:sldId id="257"/>
          </p14:sldIdLst>
        </p14:section>
        <p14:section name="Normalization" id="{27D517A3-36C1-23AA-4564-CA78593E019A}">
          <p14:sldIdLst>
            <p14:sldId id="258"/>
            <p14:sldId id="259"/>
            <p14:sldId id="260"/>
            <p14:sldId id="261"/>
          </p14:sldIdLst>
        </p14:section>
        <p14:section name="Data dictionary" id="{B8E5CEAC-7872-64AC-763B-94E5213B223C}">
          <p14:sldIdLst>
            <p14:sldId id="262"/>
            <p14:sldId id="263"/>
          </p14:sldIdLst>
        </p14:section>
        <p14:section name="DDL and integrity" id="{2C731051-7FD6-1C2F-1E85-386A84B97F64}">
          <p14:sldIdLst>
            <p14:sldId id="264"/>
            <p14:sldId id="265"/>
            <p14:sldId id="266"/>
            <p14:sldId id="267"/>
          </p14:sldIdLst>
        </p14:section>
        <p14:section name="Sample data and reports" id="{09C562F3-8C5B-0FE4-184B-ABD7506399C0}">
          <p14:sldIdLst>
            <p14:sldId id="268"/>
            <p14:sldId id="269"/>
            <p14:sldId id="270"/>
            <p14:sldId id="271"/>
          </p14:sldIdLst>
        </p14:section>
        <p14:section name="Prototype" id="{DE4277F2-CFDA-6E86-80B7-87F6256E8CDD}">
          <p14:sldIdLst>
            <p14:sldId id="272"/>
            <p14:sldId id="273"/>
          </p14:sldIdLst>
        </p14:section>
        <p14:section name="Next steps" id="{1580936C-5A47-800B-314C-F9263479A538}">
          <p14:sldIdLst>
            <p14:sldId id="27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2937"/>
                </a:solidFill>
                <a:latin typeface="+mn-lt"/>
              </a:defRPr>
            </a:pPr>
            <a:r>
              <a:rPr lang="en-US" sz="1400" b="0" i="0" u="none" strike="noStrike">
                <a:solidFill>
                  <a:srgbClr val="1F2937"/>
                </a:solidFill>
                <a:latin typeface="+mn-lt"/>
              </a:rPr>
              <a:t>Vehicle entries by hour of day (v_peak_hours)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Entries</c:v>
                </c:pt>
              </c:strCache>
            </c:strRef>
          </c:tx>
          <c:spPr>
            <a:solidFill>
              <a:srgbClr val="0F766E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F2937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Sheet1!$A$2:$A$18</c:f>
              <c:strCache>
                <c:ptCount val="17"/>
                <c:pt idx="0">
                  <c:v>5:00</c:v>
                </c:pt>
                <c:pt idx="1">
                  <c:v>6:00</c:v>
                </c:pt>
                <c:pt idx="2">
                  <c:v>7:00</c:v>
                </c:pt>
                <c:pt idx="3">
                  <c:v>8:00</c:v>
                </c:pt>
                <c:pt idx="4">
                  <c:v>9:00</c:v>
                </c:pt>
                <c:pt idx="5">
                  <c:v>10:00</c:v>
                </c:pt>
                <c:pt idx="6">
                  <c:v>11:00</c:v>
                </c:pt>
                <c:pt idx="7">
                  <c:v>12:00</c:v>
                </c:pt>
                <c:pt idx="8">
                  <c:v>13:00</c:v>
                </c:pt>
                <c:pt idx="9">
                  <c:v>14:00</c:v>
                </c:pt>
                <c:pt idx="10">
                  <c:v>15:00</c:v>
                </c:pt>
                <c:pt idx="11">
                  <c:v>16:00</c:v>
                </c:pt>
                <c:pt idx="12">
                  <c:v>17:00</c:v>
                </c:pt>
                <c:pt idx="13">
                  <c:v>18:00</c:v>
                </c:pt>
                <c:pt idx="14">
                  <c:v>19:00</c:v>
                </c:pt>
                <c:pt idx="15">
                  <c:v>20:00</c:v>
                </c:pt>
                <c:pt idx="16">
                  <c:v>21:00</c:v>
                </c:pt>
              </c:strCache>
            </c:strRef>
          </c:cat>
          <c:val>
            <c:numRef>
              <c:f>Sheet1!$B$2:$B$18</c:f>
              <c:numCache>
                <c:formatCode>General</c:formatCode>
                <c:ptCount val="17"/>
                <c:pt idx="0">
                  <c:v>0</c:v>
                </c:pt>
                <c:pt idx="1">
                  <c:v>0</c:v>
                </c:pt>
                <c:pt idx="2">
                  <c:v>1</c:v>
                </c:pt>
                <c:pt idx="3">
                  <c:v>6</c:v>
                </c:pt>
                <c:pt idx="4">
                  <c:v>7</c:v>
                </c:pt>
                <c:pt idx="5">
                  <c:v>9</c:v>
                </c:pt>
                <c:pt idx="6">
                  <c:v>3</c:v>
                </c:pt>
                <c:pt idx="7">
                  <c:v>2</c:v>
                </c:pt>
                <c:pt idx="8">
                  <c:v>1</c:v>
                </c:pt>
                <c:pt idx="9">
                  <c:v>2</c:v>
                </c:pt>
                <c:pt idx="10">
                  <c:v>5</c:v>
                </c:pt>
                <c:pt idx="11">
                  <c:v>4</c:v>
                </c:pt>
                <c:pt idx="12">
                  <c:v>4</c:v>
                </c:pt>
                <c:pt idx="13">
                  <c:v>6</c:v>
                </c:pt>
                <c:pt idx="14">
                  <c:v>4</c:v>
                </c:pt>
                <c:pt idx="15">
                  <c:v>2</c:v>
                </c:pt>
                <c:pt idx="16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CC7-41DF-9980-49BECAFEA51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74151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1D5D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74151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2937"/>
                </a:solidFill>
                <a:latin typeface="+mn-lt"/>
              </a:defRPr>
            </a:pPr>
            <a:r>
              <a:rPr lang="en-US" sz="1400" b="0" i="0" u="none" strike="noStrike">
                <a:solidFill>
                  <a:srgbClr val="1F2937"/>
                </a:solidFill>
                <a:latin typeface="+mn-lt"/>
              </a:rPr>
              <a:t>Revenue in Rs: billed vs collected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Billed</c:v>
                </c:pt>
              </c:strCache>
            </c:strRef>
          </c:tx>
          <c:spPr>
            <a:solidFill>
              <a:srgbClr val="F5B30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F2937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Lakeview Mall</c:v>
                </c:pt>
                <c:pt idx="1">
                  <c:v>Tech Park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2375</c:v>
                </c:pt>
                <c:pt idx="1">
                  <c:v>2275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F0D-4008-835F-6334E6CD497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Collected</c:v>
                </c:pt>
              </c:strCache>
            </c:strRef>
          </c:tx>
          <c:spPr>
            <a:solidFill>
              <a:srgbClr val="0F766E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F2937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Lakeview Mall</c:v>
                </c:pt>
                <c:pt idx="1">
                  <c:v>Tech Park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1942.5</c:v>
                </c:pt>
                <c:pt idx="1">
                  <c:v>1837.5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F0D-4008-835F-6334E6CD497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74151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1D5D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74151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374151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54803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828800"/>
            <a:ext cx="749808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4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3400" dirty="0"/>
          </a:p>
        </p:txBody>
      </p:sp>
      <p:sp>
        <p:nvSpPr>
          <p:cNvPr id="3" name="Text 0"/>
          <p:cNvSpPr txBox="1"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4"/>
                </a:solidFill>
              </a:rPr>
              <a:t>Smart Parking Lot Allocation and Billing  |  Review 2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4" Type="http://schemas.openxmlformats.org/officeDocument/2006/relationships/chart" Target="../charts/char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828800"/>
            <a:ext cx="7498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bg1"/>
                </a:solidFill>
              </a:rPr>
              <a:t>Design and Implementation of a Database Management System for Smart Parking Lot Allocation and Billing System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022635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chemeClr val="accent1"/>
                </a:solidFill>
              </a:rPr>
              <a:t>REVIEW 2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2062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accent6"/>
                </a:solidFill>
              </a:rPr>
              <a:t>Normalized design, DDL with integrity rules, sample data, reports and prototype</a:t>
            </a:r>
            <a:endParaRPr lang="en-US" sz="1800" dirty="0"/>
          </a:p>
        </p:txBody>
      </p:sp>
      <p:sp>
        <p:nvSpPr>
          <p:cNvPr id="6" name="Motif circle"/>
          <p:cNvSpPr/>
          <p:nvPr/>
        </p:nvSpPr>
        <p:spPr>
          <a:xfrm>
            <a:off x="8778240" y="1463040"/>
            <a:ext cx="2926080" cy="292608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7" name="Parking sign"/>
          <p:cNvSpPr/>
          <p:nvPr/>
        </p:nvSpPr>
        <p:spPr>
          <a:xfrm>
            <a:off x="9144000" y="1828800"/>
            <a:ext cx="2194560" cy="2194560"/>
          </a:xfrm>
          <a:prstGeom prst="roundRect">
            <a:avLst>
              <a:gd name="adj" fmla="val 12500"/>
            </a:avLst>
          </a:prstGeom>
          <a:solidFill>
            <a:schemeClr val="accent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144000" y="1828800"/>
            <a:ext cx="2194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1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Where we stand after Review 1</a:t>
            </a:r>
            <a:endParaRPr lang="en-US" sz="3400" dirty="0"/>
          </a:p>
        </p:txBody>
      </p:sp>
      <p:sp>
        <p:nvSpPr>
          <p:cNvPr id="3" name="Progress row 1"/>
          <p:cNvSpPr/>
          <p:nvPr/>
        </p:nvSpPr>
        <p:spPr>
          <a:xfrm>
            <a:off x="640080" y="1554480"/>
            <a:ext cx="10881360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/>
        </p:spPr>
      </p:sp>
      <p:pic>
        <p:nvPicPr>
          <p:cNvPr id="4" name="Image 0" descr="Status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192024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737360" y="155448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 1 (done)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5120640" y="1554480"/>
            <a:ext cx="6126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accent5"/>
                </a:solidFill>
              </a:rPr>
              <a:t>Problem, scope, users, requirements, ER diagram with 13 entities, initial schema</a:t>
            </a:r>
            <a:endParaRPr lang="en-US" sz="1600" dirty="0"/>
          </a:p>
        </p:txBody>
      </p:sp>
      <p:sp>
        <p:nvSpPr>
          <p:cNvPr id="7" name="Progress row 2"/>
          <p:cNvSpPr/>
          <p:nvPr/>
        </p:nvSpPr>
        <p:spPr>
          <a:xfrm>
            <a:off x="640080" y="2971800"/>
            <a:ext cx="10881360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/>
        </p:spPr>
      </p:sp>
      <p:pic>
        <p:nvPicPr>
          <p:cNvPr id="8" name="Image 1" descr="Status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3337560"/>
            <a:ext cx="457200" cy="4572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737360" y="297180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 2 (this review)</a:t>
            </a:r>
            <a:endParaRPr lang="en-US" sz="2000" dirty="0"/>
          </a:p>
        </p:txBody>
      </p:sp>
      <p:sp>
        <p:nvSpPr>
          <p:cNvPr id="10" name="Text 6"/>
          <p:cNvSpPr txBox="1"/>
          <p:nvPr/>
        </p:nvSpPr>
        <p:spPr>
          <a:xfrm>
            <a:off x="5120640" y="2971800"/>
            <a:ext cx="6126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accent5"/>
                </a:solidFill>
              </a:rPr>
              <a:t>3NF design, DDL with rules, sample data, reports, working prototype</a:t>
            </a:r>
            <a:endParaRPr lang="en-US" sz="1600" dirty="0"/>
          </a:p>
        </p:txBody>
      </p:sp>
      <p:sp>
        <p:nvSpPr>
          <p:cNvPr id="11" name="Progress row 3"/>
          <p:cNvSpPr/>
          <p:nvPr/>
        </p:nvSpPr>
        <p:spPr>
          <a:xfrm>
            <a:off x="640080" y="4389120"/>
            <a:ext cx="10881360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/>
        </p:spPr>
      </p:sp>
      <p:pic>
        <p:nvPicPr>
          <p:cNvPr id="12" name="Image 2" descr="Status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4754880"/>
            <a:ext cx="457200" cy="45720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737360" y="438912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 3 (next)</a:t>
            </a:r>
            <a:endParaRPr lang="en-US" sz="2000" dirty="0"/>
          </a:p>
        </p:txBody>
      </p:sp>
      <p:sp>
        <p:nvSpPr>
          <p:cNvPr id="14" name="Text 9"/>
          <p:cNvSpPr txBox="1"/>
          <p:nvPr/>
        </p:nvSpPr>
        <p:spPr>
          <a:xfrm>
            <a:off x="5120640" y="4389120"/>
            <a:ext cx="6126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accent5"/>
                </a:solidFill>
              </a:rPr>
              <a:t>Front-end application, CRUD, validation, final demo, report and viva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640080" y="58521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</a:rPr>
              <a:t>Database: MySQL 8.0. Everything is tested on a live database and will be submitted on GitHub.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Normalization: from one flat record to 13 tables</a:t>
            </a:r>
            <a:endParaRPr lang="en-US" sz="3400" dirty="0"/>
          </a:p>
        </p:txBody>
      </p:sp>
      <p:sp>
        <p:nvSpPr>
          <p:cNvPr id="3" name="Step card 1"/>
          <p:cNvSpPr/>
          <p:nvPr/>
        </p:nvSpPr>
        <p:spPr>
          <a:xfrm>
            <a:off x="640080" y="1554480"/>
            <a:ext cx="2606040" cy="329184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4" name="Step circle 1"/>
          <p:cNvSpPr/>
          <p:nvPr/>
        </p:nvSpPr>
        <p:spPr>
          <a:xfrm>
            <a:off x="914400" y="1828800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8288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</a:rPr>
              <a:t>1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7432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UNF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24612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accent5"/>
                </a:solidFill>
              </a:rPr>
              <a:t>One wide row holds owner, slot, floor, facility, rate, bill and a list of payments</a:t>
            </a:r>
            <a:endParaRPr lang="en-US" sz="1500" dirty="0"/>
          </a:p>
        </p:txBody>
      </p:sp>
      <p:sp>
        <p:nvSpPr>
          <p:cNvPr id="8" name="Step card 2"/>
          <p:cNvSpPr/>
          <p:nvPr/>
        </p:nvSpPr>
        <p:spPr>
          <a:xfrm>
            <a:off x="3429000" y="1554480"/>
            <a:ext cx="2606040" cy="329184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9" name="Step circle 2"/>
          <p:cNvSpPr/>
          <p:nvPr/>
        </p:nvSpPr>
        <p:spPr>
          <a:xfrm>
            <a:off x="3703320" y="1828800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703320" y="18288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</a:rPr>
              <a:t>2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3703320" y="27432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1NF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3703320" y="324612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accent5"/>
                </a:solidFill>
              </a:rPr>
              <a:t>Payments with several values in one cell become one row each</a:t>
            </a:r>
            <a:endParaRPr lang="en-US" sz="1500" dirty="0"/>
          </a:p>
        </p:txBody>
      </p:sp>
      <p:sp>
        <p:nvSpPr>
          <p:cNvPr id="13" name="Step card 3"/>
          <p:cNvSpPr/>
          <p:nvPr/>
        </p:nvSpPr>
        <p:spPr>
          <a:xfrm>
            <a:off x="6217920" y="1554480"/>
            <a:ext cx="2606040" cy="329184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14" name="Step circle 3"/>
          <p:cNvSpPr/>
          <p:nvPr/>
        </p:nvSpPr>
        <p:spPr>
          <a:xfrm>
            <a:off x="6492240" y="1828800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92240" y="18288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</a:rPr>
              <a:t>3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6492240" y="27432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2NF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6492240" y="324612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accent5"/>
                </a:solidFill>
              </a:rPr>
              <a:t>Partial dependencies removed: session, bill and payment split apart</a:t>
            </a:r>
            <a:endParaRPr lang="en-US" sz="1500" dirty="0"/>
          </a:p>
        </p:txBody>
      </p:sp>
      <p:sp>
        <p:nvSpPr>
          <p:cNvPr id="18" name="Step card 4"/>
          <p:cNvSpPr/>
          <p:nvPr/>
        </p:nvSpPr>
        <p:spPr>
          <a:xfrm>
            <a:off x="9006840" y="1554480"/>
            <a:ext cx="2606040" cy="3291840"/>
          </a:xfrm>
          <a:prstGeom prst="roundRect">
            <a:avLst>
              <a:gd name="adj" fmla="val 4211"/>
            </a:avLst>
          </a:prstGeom>
          <a:solidFill>
            <a:schemeClr val="tx2"/>
          </a:solidFill>
          <a:ln/>
        </p:spPr>
      </p:sp>
      <p:sp>
        <p:nvSpPr>
          <p:cNvPr id="19" name="Step circle 4"/>
          <p:cNvSpPr/>
          <p:nvPr/>
        </p:nvSpPr>
        <p:spPr>
          <a:xfrm>
            <a:off x="9281160" y="182880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281160" y="18288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2"/>
                </a:solidFill>
              </a:rPr>
              <a:t>4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9281160" y="27432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3NF</a:t>
            </a:r>
            <a:endParaRPr lang="en-US" sz="2600" dirty="0"/>
          </a:p>
        </p:txBody>
      </p:sp>
      <p:sp>
        <p:nvSpPr>
          <p:cNvPr id="22" name="Text 20"/>
          <p:cNvSpPr txBox="1"/>
          <p:nvPr/>
        </p:nvSpPr>
        <p:spPr>
          <a:xfrm>
            <a:off x="9281160" y="324612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</a:rPr>
              <a:t>Transitive dependencies removed: customer, vehicle, slot-zone-floor-facility, tariff, reservation, pass</a:t>
            </a:r>
            <a:endParaRPr lang="en-US" sz="1500" dirty="0"/>
          </a:p>
        </p:txBody>
      </p:sp>
      <p:sp>
        <p:nvSpPr>
          <p:cNvPr id="23" name="Rule banner"/>
          <p:cNvSpPr/>
          <p:nvPr/>
        </p:nvSpPr>
        <p:spPr>
          <a:xfrm>
            <a:off x="640080" y="5120640"/>
            <a:ext cx="1088136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14400" y="512064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3NF test: </a:t>
            </a:r>
            <a:r>
              <a:rPr lang="en-US" sz="1700" dirty="0">
                <a:solidFill>
                  <a:schemeClr val="tx2"/>
                </a:solidFill>
              </a:rPr>
              <a:t>every non-key attribute depends on the key, the whole key, and nothing but the key.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What normalization changed in the ER design</a:t>
            </a:r>
            <a:endParaRPr lang="en-US" sz="3400" dirty="0"/>
          </a:p>
        </p:txBody>
      </p:sp>
      <p:sp>
        <p:nvSpPr>
          <p:cNvPr id="3" name="Before card"/>
          <p:cNvSpPr/>
          <p:nvPr/>
        </p:nvSpPr>
        <p:spPr>
          <a:xfrm>
            <a:off x="640080" y="1554480"/>
            <a:ext cx="5303520" cy="3108960"/>
          </a:xfrm>
          <a:prstGeom prst="roundRect">
            <a:avLst>
              <a:gd name="adj" fmla="val 3529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14400" y="17373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(Review 1)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286000"/>
            <a:ext cx="4754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RESERVATION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reservation_id (PK)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B4530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customer_id (FK)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vehicle_id (FK)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slot_id, start_time, expiry_time, status</a:t>
            </a:r>
            <a:endParaRPr lang="en-US" sz="1600" dirty="0"/>
          </a:p>
        </p:txBody>
      </p:sp>
      <p:sp>
        <p:nvSpPr>
          <p:cNvPr id="6" name="After card"/>
          <p:cNvSpPr/>
          <p:nvPr/>
        </p:nvSpPr>
        <p:spPr>
          <a:xfrm>
            <a:off x="6245352" y="1554480"/>
            <a:ext cx="5303520" cy="3108960"/>
          </a:xfrm>
          <a:prstGeom prst="roundRect">
            <a:avLst>
              <a:gd name="adj" fmla="val 3529"/>
            </a:avLst>
          </a:prstGeom>
          <a:solidFill>
            <a:schemeClr val="tx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519672" y="17373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After (Review 2)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519672" y="2286000"/>
            <a:ext cx="4754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RESERVATION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reservation_id (PK)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vehicle_id (FK)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slot_id, start_time, expiry_time, status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502920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Why: </a:t>
            </a:r>
            <a:r>
              <a:rPr lang="en-US" sz="1700" dirty="0">
                <a:solidFill>
                  <a:schemeClr val="tx2"/>
                </a:solidFill>
              </a:rPr>
              <a:t>reservation_id determines vehicle_id, and vehicle_id determines customer_id. That is a transitive dependency, so customer_id was removed and is reached through VEHICLE.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Functional dependencies</a:t>
            </a:r>
            <a:endParaRPr lang="en-US" sz="3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71600"/>
          <a:ext cx="10881360" cy="4736592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Table</a:t>
                      </a:r>
                      <a:endParaRPr lang="en-US" sz="1300" dirty="0"/>
                    </a:p>
                  </a:txBody>
                  <a:tcPr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Dependency on the primary key</a:t>
                      </a:r>
                      <a:endParaRPr lang="en-US" sz="1300" dirty="0"/>
                    </a:p>
                  </a:txBody>
                  <a:tcPr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</a:rPr>
                        <a:t>facility</a:t>
                      </a:r>
                      <a:endParaRPr lang="en-US" sz="1300" dirty="0"/>
                    </a:p>
                  </a:txBody>
                  <a:tcPr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</a:rPr>
                        <a:t>facility_id -&gt; name, address</a:t>
                      </a:r>
                      <a:endParaRPr lang="en-US" sz="1300" dirty="0"/>
                    </a:p>
                  </a:txBody>
                  <a:tcPr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</a:rPr>
                        <a:t>floor</a:t>
                      </a:r>
                      <a:endParaRPr lang="en-US" sz="1300" dirty="0"/>
                    </a:p>
                  </a:txBody>
                  <a:tcPr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</a:rPr>
                        <a:t>floor_id -&gt; facility_id, floor_no</a:t>
                      </a:r>
                      <a:endParaRPr lang="en-US" sz="1300" dirty="0"/>
                    </a:p>
                  </a:txBody>
                  <a:tcPr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</a:rPr>
                        <a:t>zone</a:t>
                      </a:r>
                      <a:endParaRPr lang="en-US" sz="1300" dirty="0"/>
                    </a:p>
                  </a:txBody>
                  <a:tcPr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</a:rPr>
                        <a:t>zone_id -&gt; floor_id, zone_name</a:t>
                      </a:r>
                      <a:endParaRPr lang="en-US" sz="1300" dirty="0"/>
                    </a:p>
                  </a:txBody>
                  <a:tcPr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</a:rPr>
                        <a:t>vehicle_type</a:t>
                      </a:r>
                      <a:endParaRPr lang="en-US" sz="1300" dirty="0"/>
                    </a:p>
                  </a:txBody>
                  <a:tcPr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</a:rPr>
                        <a:t>type_id -&gt; type_name</a:t>
                      </a:r>
                      <a:endParaRPr lang="en-US" sz="1300" dirty="0"/>
                    </a:p>
                  </a:txBody>
                  <a:tcPr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</a:rPr>
                        <a:t>slot</a:t>
                      </a:r>
                      <a:endParaRPr lang="en-US" sz="1300" dirty="0"/>
                    </a:p>
                  </a:txBody>
                  <a:tcPr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</a:rPr>
                        <a:t>slot_id -&gt; zone_id, type_id, slot_no, status</a:t>
                      </a:r>
                      <a:endParaRPr lang="en-US" sz="1300" dirty="0"/>
                    </a:p>
                  </a:txBody>
                  <a:tcPr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</a:rPr>
                        <a:t>tariff</a:t>
                      </a:r>
                      <a:endParaRPr lang="en-US" sz="1300" dirty="0"/>
                    </a:p>
                  </a:txBody>
                  <a:tcPr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</a:rPr>
                        <a:t>tariff_id -&gt; facility_id, type_id, effective_from, rate_per_hour, daily_cap</a:t>
                      </a:r>
                      <a:endParaRPr lang="en-US" sz="1300" dirty="0"/>
                    </a:p>
                  </a:txBody>
                  <a:tcPr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</a:rPr>
                        <a:t>customer</a:t>
                      </a:r>
                      <a:endParaRPr lang="en-US" sz="1300" dirty="0"/>
                    </a:p>
                  </a:txBody>
                  <a:tcPr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</a:rPr>
                        <a:t>customer_id -&gt; name, phone, email</a:t>
                      </a:r>
                      <a:endParaRPr lang="en-US" sz="1300" dirty="0"/>
                    </a:p>
                  </a:txBody>
                  <a:tcPr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</a:rPr>
                        <a:t>vehicle</a:t>
                      </a:r>
                      <a:endParaRPr lang="en-US" sz="1300" dirty="0"/>
                    </a:p>
                  </a:txBody>
                  <a:tcPr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</a:rPr>
                        <a:t>vehicle_id -&gt; customer_id, type_id, reg_number</a:t>
                      </a:r>
                      <a:endParaRPr lang="en-US" sz="1300" dirty="0"/>
                    </a:p>
                  </a:txBody>
                  <a:tcPr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</a:rPr>
                        <a:t>reservation</a:t>
                      </a:r>
                      <a:endParaRPr lang="en-US" sz="1300" dirty="0"/>
                    </a:p>
                  </a:txBody>
                  <a:tcPr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</a:rPr>
                        <a:t>reservation_id -&gt; vehicle_id, slot_id, start_time, expiry_time, status</a:t>
                      </a:r>
                      <a:endParaRPr lang="en-US" sz="1300" dirty="0"/>
                    </a:p>
                  </a:txBody>
                  <a:tcPr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</a:rPr>
                        <a:t>pass</a:t>
                      </a:r>
                      <a:endParaRPr lang="en-US" sz="1300" dirty="0"/>
                    </a:p>
                  </a:txBody>
                  <a:tcPr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</a:rPr>
                        <a:t>pass_id -&gt; customer_id, pass_type, valid_from, valid_to, fee</a:t>
                      </a:r>
                      <a:endParaRPr lang="en-US" sz="1300" dirty="0"/>
                    </a:p>
                  </a:txBody>
                  <a:tcPr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</a:rPr>
                        <a:t>parking_session</a:t>
                      </a:r>
                      <a:endParaRPr lang="en-US" sz="1300" dirty="0"/>
                    </a:p>
                  </a:txBody>
                  <a:tcPr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</a:rPr>
                        <a:t>session_id -&gt; vehicle_id, slot_id, reservation_id, pass_id, entry_time, exit_time</a:t>
                      </a:r>
                      <a:endParaRPr lang="en-US" sz="1300" dirty="0"/>
                    </a:p>
                  </a:txBody>
                  <a:tcPr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</a:rPr>
                        <a:t>bill</a:t>
                      </a:r>
                      <a:endParaRPr lang="en-US" sz="1300" dirty="0"/>
                    </a:p>
                  </a:txBody>
                  <a:tcPr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</a:rPr>
                        <a:t>bill_id -&gt; session_id, tariff_id, amount, bill_status, generated_at</a:t>
                      </a:r>
                      <a:endParaRPr lang="en-US" sz="1300" dirty="0"/>
                    </a:p>
                  </a:txBody>
                  <a:tcPr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</a:rPr>
                        <a:t>payment</a:t>
                      </a:r>
                      <a:endParaRPr lang="en-US" sz="1300" dirty="0"/>
                    </a:p>
                  </a:txBody>
                  <a:tcPr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</a:rPr>
                        <a:t>payment_id -&gt; bill_id, amount_paid, method, paid_at</a:t>
                      </a:r>
                      <a:endParaRPr lang="en-US" sz="1300" dirty="0"/>
                    </a:p>
                  </a:txBody>
                  <a:tcPr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3NF result and controlled redundancy</a:t>
            </a:r>
            <a:endParaRPr lang="en-US" sz="3400" dirty="0"/>
          </a:p>
        </p:txBody>
      </p:sp>
      <p:sp>
        <p:nvSpPr>
          <p:cNvPr id="3" name="Redundancy card 1"/>
          <p:cNvSpPr/>
          <p:nvPr/>
        </p:nvSpPr>
        <p:spPr>
          <a:xfrm>
            <a:off x="640080" y="1554480"/>
            <a:ext cx="3474720" cy="301752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14400" y="17830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bill.amount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37744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2"/>
                </a:solidFill>
              </a:rPr>
              <a:t>Snapshot of the charge, because tariffs change later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338328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5"/>
                </a:solidFill>
              </a:rPr>
              <a:t>Kept correct by: </a:t>
            </a:r>
            <a:r>
              <a:rPr lang="en-US" sz="1500" dirty="0">
                <a:solidFill>
                  <a:schemeClr val="accent5"/>
                </a:solidFill>
              </a:rPr>
              <a:t>Computed by the bill trigger from the tariff</a:t>
            </a:r>
            <a:endParaRPr lang="en-US" sz="1500" dirty="0"/>
          </a:p>
        </p:txBody>
      </p:sp>
      <p:sp>
        <p:nvSpPr>
          <p:cNvPr id="7" name="Redundancy card 2"/>
          <p:cNvSpPr/>
          <p:nvPr/>
        </p:nvSpPr>
        <p:spPr>
          <a:xfrm>
            <a:off x="4389120" y="1554480"/>
            <a:ext cx="3474720" cy="301752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663440" y="17830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bill.bill_status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4663440" y="237744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2"/>
                </a:solidFill>
              </a:rPr>
              <a:t>Fast search for unpaid bills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663440" y="338328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5"/>
                </a:solidFill>
              </a:rPr>
              <a:t>Kept correct by: </a:t>
            </a:r>
            <a:r>
              <a:rPr lang="en-US" sz="1500" dirty="0">
                <a:solidFill>
                  <a:schemeClr val="accent5"/>
                </a:solidFill>
              </a:rPr>
              <a:t>Recalculated by the payment trigger</a:t>
            </a:r>
            <a:endParaRPr lang="en-US" sz="1500" dirty="0"/>
          </a:p>
        </p:txBody>
      </p:sp>
      <p:sp>
        <p:nvSpPr>
          <p:cNvPr id="11" name="Redundancy card 3"/>
          <p:cNvSpPr/>
          <p:nvPr/>
        </p:nvSpPr>
        <p:spPr>
          <a:xfrm>
            <a:off x="8138160" y="1554480"/>
            <a:ext cx="3474720" cy="301752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412480" y="17830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slot.status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8412480" y="237744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2"/>
                </a:solidFill>
              </a:rPr>
              <a:t>Instant free-slot search; MAINTENANCE cannot be derived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8412480" y="338328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5"/>
                </a:solidFill>
              </a:rPr>
              <a:t>Kept correct by: </a:t>
            </a:r>
            <a:r>
              <a:rPr lang="en-US" sz="1500" dirty="0">
                <a:solidFill>
                  <a:schemeClr val="accent5"/>
                </a:solidFill>
              </a:rPr>
              <a:t>Updated by the entry and exit triggers</a:t>
            </a:r>
            <a:endParaRPr lang="en-US" sz="1500" dirty="0"/>
          </a:p>
        </p:txBody>
      </p:sp>
      <p:sp>
        <p:nvSpPr>
          <p:cNvPr id="15" name="Verdict banner"/>
          <p:cNvSpPr/>
          <p:nvPr/>
        </p:nvSpPr>
        <p:spPr>
          <a:xfrm>
            <a:off x="640080" y="4892040"/>
            <a:ext cx="10881360" cy="109728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14400" y="4892040"/>
            <a:ext cx="10332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Verdict: </a:t>
            </a:r>
            <a:r>
              <a:rPr lang="en-US" sz="1700" dirty="0">
                <a:solidFill>
                  <a:schemeClr val="bg1"/>
                </a:solidFill>
              </a:rPr>
              <a:t>all 13 tables are in 3NF. These three stored values are deliberate, documented and impossible to enter wrongly by hand.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Data dictionary 1: facility and master data</a:t>
            </a:r>
            <a:endParaRPr lang="en-US" sz="3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63040"/>
          <a:ext cx="10881360" cy="4242816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94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Table</a:t>
                      </a:r>
                      <a:endParaRPr lang="en-US" sz="1300" dirty="0"/>
                    </a:p>
                  </a:txBody>
                  <a:tcPr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Columns (PK, FK, UNIQUE)</a:t>
                      </a:r>
                      <a:endParaRPr lang="en-US" sz="1300" dirty="0"/>
                    </a:p>
                  </a:txBody>
                  <a:tcPr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Constraints and indexes</a:t>
                      </a:r>
                      <a:endParaRPr lang="en-US" sz="1300" dirty="0"/>
                    </a:p>
                  </a:txBody>
                  <a:tcPr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</a:rPr>
                        <a:t>facility</a:t>
                      </a:r>
                      <a:endParaRPr lang="en-US" sz="1300" dirty="0"/>
                    </a:p>
                  </a:txBody>
                  <a:tcPr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</a:rPr>
                        <a:t>facility_id PK, name UNIQUE, address</a:t>
                      </a:r>
                      <a:endParaRPr lang="en-US" sz="1300" dirty="0"/>
                    </a:p>
                  </a:txBody>
                  <a:tcPr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</a:rPr>
                        <a:t>No foreign keys</a:t>
                      </a:r>
                      <a:endParaRPr lang="en-US" sz="1300" dirty="0"/>
                    </a:p>
                  </a:txBody>
                  <a:tcPr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</a:rPr>
                        <a:t>floor</a:t>
                      </a:r>
                      <a:endParaRPr lang="en-US" sz="1300" dirty="0"/>
                    </a:p>
                  </a:txBody>
                  <a:tcPr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</a:rPr>
                        <a:t>floor_id PK, facility_id FK, floor_no (CHECK -5..50)</a:t>
                      </a:r>
                      <a:endParaRPr lang="en-US" sz="1300" dirty="0"/>
                    </a:p>
                  </a:txBody>
                  <a:tcPr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</a:rPr>
                        <a:t>UNIQUE (facility, floor_no)</a:t>
                      </a:r>
                      <a:endParaRPr lang="en-US" sz="1300" dirty="0"/>
                    </a:p>
                  </a:txBody>
                  <a:tcPr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</a:rPr>
                        <a:t>zone</a:t>
                      </a:r>
                      <a:endParaRPr lang="en-US" sz="1300" dirty="0"/>
                    </a:p>
                  </a:txBody>
                  <a:tcPr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</a:rPr>
                        <a:t>zone_id PK, floor_id FK, zone_name</a:t>
                      </a:r>
                      <a:endParaRPr lang="en-US" sz="1300" dirty="0"/>
                    </a:p>
                  </a:txBody>
                  <a:tcPr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</a:rPr>
                        <a:t>UNIQUE (floor, zone_name)</a:t>
                      </a:r>
                      <a:endParaRPr lang="en-US" sz="1300" dirty="0"/>
                    </a:p>
                  </a:txBody>
                  <a:tcPr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</a:rPr>
                        <a:t>vehicle_type</a:t>
                      </a:r>
                      <a:endParaRPr lang="en-US" sz="1300" dirty="0"/>
                    </a:p>
                  </a:txBody>
                  <a:tcPr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</a:rPr>
                        <a:t>type_id PK, type_name UNIQUE</a:t>
                      </a:r>
                      <a:endParaRPr lang="en-US" sz="1300" dirty="0"/>
                    </a:p>
                  </a:txBody>
                  <a:tcPr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</a:rPr>
                        <a:t>Bike, Car, Truck</a:t>
                      </a:r>
                      <a:endParaRPr lang="en-US" sz="1300" dirty="0"/>
                    </a:p>
                  </a:txBody>
                  <a:tcPr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</a:rPr>
                        <a:t>slot</a:t>
                      </a:r>
                      <a:endParaRPr lang="en-US" sz="1300" dirty="0"/>
                    </a:p>
                  </a:txBody>
                  <a:tcPr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</a:rPr>
                        <a:t>slot_id PK, zone_id FK, type_id FK, slot_no, status ENUM</a:t>
                      </a:r>
                      <a:endParaRPr lang="en-US" sz="1300" dirty="0"/>
                    </a:p>
                  </a:txBody>
                  <a:tcPr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</a:rPr>
                        <a:t>UNIQUE (zone, slot_no); index (status, type)</a:t>
                      </a:r>
                      <a:endParaRPr lang="en-US" sz="1300" dirty="0"/>
                    </a:p>
                  </a:txBody>
                  <a:tcPr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</a:rPr>
                        <a:t>tariff</a:t>
                      </a:r>
                      <a:endParaRPr lang="en-US" sz="1300" dirty="0"/>
                    </a:p>
                  </a:txBody>
                  <a:tcPr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</a:rPr>
                        <a:t>tariff_id PK, facility_id FK, type_id FK, effective_from, rate_per_hour, daily_cap</a:t>
                      </a:r>
                      <a:endParaRPr lang="en-US" sz="1300" dirty="0"/>
                    </a:p>
                  </a:txBody>
                  <a:tcPr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</a:rPr>
                        <a:t>CHECK rate &gt; 0, cap &gt;= rate</a:t>
                      </a:r>
                      <a:endParaRPr lang="en-US" sz="1300" dirty="0"/>
                    </a:p>
                  </a:txBody>
                  <a:tcPr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</a:rPr>
                        <a:t>customer</a:t>
                      </a:r>
                      <a:endParaRPr lang="en-US" sz="1300" dirty="0"/>
                    </a:p>
                  </a:txBody>
                  <a:tcPr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</a:rPr>
                        <a:t>customer_id PK, name, phone UNIQUE, email UNIQUE</a:t>
                      </a:r>
                      <a:endParaRPr lang="en-US" sz="1300" dirty="0"/>
                    </a:p>
                  </a:txBody>
                  <a:tcPr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</a:rPr>
                        <a:t>CHECK phone 10 digits, email format</a:t>
                      </a:r>
                      <a:endParaRPr lang="en-US" sz="1300" dirty="0"/>
                    </a:p>
                  </a:txBody>
                  <a:tcPr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640080" y="59893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accent4"/>
                </a:solidFill>
              </a:rPr>
              <a:t>Full column-by-column dictionary with types, NULL rules and defaults: docs/normalization_and_data_dictionary.md in the repository.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Data dictionary 2: customers, sessions and billing</a:t>
            </a:r>
            <a:endParaRPr lang="en-US" sz="3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63040"/>
          <a:ext cx="10881360" cy="448056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Table</a:t>
                      </a:r>
                      <a:endParaRPr lang="en-US" sz="1300" dirty="0"/>
                    </a:p>
                  </a:txBody>
                  <a:tcPr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Columns (PK, FK, UNIQUE)</a:t>
                      </a:r>
                      <a:endParaRPr lang="en-US" sz="1300" dirty="0"/>
                    </a:p>
                  </a:txBody>
                  <a:tcPr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Constraints and indexes</a:t>
                      </a:r>
                      <a:endParaRPr lang="en-US" sz="1300" dirty="0"/>
                    </a:p>
                  </a:txBody>
                  <a:tcPr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</a:rPr>
                        <a:t>vehicle</a:t>
                      </a:r>
                      <a:endParaRPr lang="en-US" sz="1300" dirty="0"/>
                    </a:p>
                  </a:txBody>
                  <a:tcPr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</a:rPr>
                        <a:t>vehicle_id PK, customer_id FK, type_id FK, reg_number UNIQUE</a:t>
                      </a:r>
                      <a:endParaRPr lang="en-US" sz="1300" dirty="0"/>
                    </a:p>
                  </a:txBody>
                  <a:tcPr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</a:rPr>
                        <a:t>CHECK registration format</a:t>
                      </a:r>
                      <a:endParaRPr lang="en-US" sz="1300" dirty="0"/>
                    </a:p>
                  </a:txBody>
                  <a:tcPr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</a:rPr>
                        <a:t>reservation</a:t>
                      </a:r>
                      <a:endParaRPr lang="en-US" sz="1300" dirty="0"/>
                    </a:p>
                  </a:txBody>
                  <a:tcPr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</a:rPr>
                        <a:t>reservation_id PK, vehicle_id FK, slot_id FK, start_time, expiry_time, status ENUM</a:t>
                      </a:r>
                      <a:endParaRPr lang="en-US" sz="1300" dirty="0"/>
                    </a:p>
                  </a:txBody>
                  <a:tcPr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</a:rPr>
                        <a:t>CHECK expiry &gt; start</a:t>
                      </a:r>
                      <a:endParaRPr lang="en-US" sz="1300" dirty="0"/>
                    </a:p>
                  </a:txBody>
                  <a:tcPr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</a:rPr>
                        <a:t>pass</a:t>
                      </a:r>
                      <a:endParaRPr lang="en-US" sz="1300" dirty="0"/>
                    </a:p>
                  </a:txBody>
                  <a:tcPr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</a:rPr>
                        <a:t>pass_id PK, customer_id FK, pass_type ENUM, valid_from, valid_to, fee</a:t>
                      </a:r>
                      <a:endParaRPr lang="en-US" sz="1300" dirty="0"/>
                    </a:p>
                  </a:txBody>
                  <a:tcPr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</a:rPr>
                        <a:t>CHECK valid_to &gt;= valid_from</a:t>
                      </a:r>
                      <a:endParaRPr lang="en-US" sz="1300" dirty="0"/>
                    </a:p>
                  </a:txBody>
                  <a:tcPr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</a:rPr>
                        <a:t>parking_session</a:t>
                      </a:r>
                      <a:endParaRPr lang="en-US" sz="1300" dirty="0"/>
                    </a:p>
                  </a:txBody>
                  <a:tcPr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</a:rPr>
                        <a:t>session_id PK, vehicle_id FK, slot_id FK, reservation_id FK (UNIQUE), pass_id FK, entry_time, exit_time</a:t>
                      </a:r>
                      <a:endParaRPr lang="en-US" sz="1300" dirty="0"/>
                    </a:p>
                  </a:txBody>
                  <a:tcPr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</a:rPr>
                        <a:t>CHECK exit &gt; entry; 2 generated UNIQUE columns</a:t>
                      </a:r>
                      <a:endParaRPr lang="en-US" sz="1300" dirty="0"/>
                    </a:p>
                  </a:txBody>
                  <a:tcPr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</a:rPr>
                        <a:t>bill</a:t>
                      </a:r>
                      <a:endParaRPr lang="en-US" sz="1300" dirty="0"/>
                    </a:p>
                  </a:txBody>
                  <a:tcPr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</a:rPr>
                        <a:t>bill_id PK, session_id FK (UNIQUE), tariff_id FK, amount, bill_status ENUM, generated_at</a:t>
                      </a:r>
                      <a:endParaRPr lang="en-US" sz="1300" dirty="0"/>
                    </a:p>
                  </a:txBody>
                  <a:tcPr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</a:rPr>
                        <a:t>One bill per session; CHECK amount &gt;= 0</a:t>
                      </a:r>
                      <a:endParaRPr lang="en-US" sz="1300" dirty="0"/>
                    </a:p>
                  </a:txBody>
                  <a:tcPr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</a:rPr>
                        <a:t>payment</a:t>
                      </a:r>
                      <a:endParaRPr lang="en-US" sz="1300" dirty="0"/>
                    </a:p>
                  </a:txBody>
                  <a:tcPr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</a:rPr>
                        <a:t>payment_id PK, bill_id FK, amount_paid, method ENUM, paid_at</a:t>
                      </a:r>
                      <a:endParaRPr lang="en-US" sz="1300" dirty="0"/>
                    </a:p>
                  </a:txBody>
                  <a:tcPr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</a:rPr>
                        <a:t>CHECK amount_paid &gt; 0</a:t>
                      </a:r>
                      <a:endParaRPr lang="en-US" sz="1300" dirty="0"/>
                    </a:p>
                  </a:txBody>
                  <a:tcPr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DDL scripts at a glance</a:t>
            </a:r>
            <a:endParaRPr lang="en-US" sz="3400" dirty="0"/>
          </a:p>
        </p:txBody>
      </p:sp>
      <p:sp>
        <p:nvSpPr>
          <p:cNvPr id="3" name="Stat card 1"/>
          <p:cNvSpPr/>
          <p:nvPr/>
        </p:nvSpPr>
        <p:spPr>
          <a:xfrm>
            <a:off x="640080" y="1554480"/>
            <a:ext cx="2606040" cy="1828800"/>
          </a:xfrm>
          <a:prstGeom prst="roundRect">
            <a:avLst>
              <a:gd name="adj" fmla="val 6000"/>
            </a:avLst>
          </a:prstGeom>
          <a:solidFill>
            <a:schemeClr val="tx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69164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6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7432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chemeClr val="bg1"/>
                </a:solidFill>
              </a:rPr>
              <a:t>tables</a:t>
            </a:r>
            <a:endParaRPr lang="en-US" sz="1800" dirty="0"/>
          </a:p>
        </p:txBody>
      </p:sp>
      <p:sp>
        <p:nvSpPr>
          <p:cNvPr id="6" name="Stat card 2"/>
          <p:cNvSpPr/>
          <p:nvPr/>
        </p:nvSpPr>
        <p:spPr>
          <a:xfrm>
            <a:off x="3429000" y="1554480"/>
            <a:ext cx="2606040" cy="1828800"/>
          </a:xfrm>
          <a:prstGeom prst="roundRect">
            <a:avLst>
              <a:gd name="adj" fmla="val 6000"/>
            </a:avLst>
          </a:prstGeom>
          <a:solidFill>
            <a:schemeClr val="tx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429000" y="169164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6000" dirty="0"/>
          </a:p>
        </p:txBody>
      </p:sp>
      <p:sp>
        <p:nvSpPr>
          <p:cNvPr id="8" name="Text 6"/>
          <p:cNvSpPr txBox="1"/>
          <p:nvPr/>
        </p:nvSpPr>
        <p:spPr>
          <a:xfrm>
            <a:off x="3429000" y="27432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chemeClr val="bg1"/>
                </a:solidFill>
              </a:rPr>
              <a:t>triggers</a:t>
            </a:r>
            <a:endParaRPr lang="en-US" sz="1800" dirty="0"/>
          </a:p>
        </p:txBody>
      </p:sp>
      <p:sp>
        <p:nvSpPr>
          <p:cNvPr id="9" name="Stat card 3"/>
          <p:cNvSpPr/>
          <p:nvPr/>
        </p:nvSpPr>
        <p:spPr>
          <a:xfrm>
            <a:off x="6217920" y="1554480"/>
            <a:ext cx="2606040" cy="1828800"/>
          </a:xfrm>
          <a:prstGeom prst="roundRect">
            <a:avLst>
              <a:gd name="adj" fmla="val 6000"/>
            </a:avLst>
          </a:prstGeom>
          <a:solidFill>
            <a:schemeClr val="tx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217920" y="169164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6000" dirty="0"/>
          </a:p>
        </p:txBody>
      </p:sp>
      <p:sp>
        <p:nvSpPr>
          <p:cNvPr id="11" name="Text 9"/>
          <p:cNvSpPr txBox="1"/>
          <p:nvPr/>
        </p:nvSpPr>
        <p:spPr>
          <a:xfrm>
            <a:off x="6217920" y="27432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chemeClr val="bg1"/>
                </a:solidFill>
              </a:rPr>
              <a:t>functions</a:t>
            </a:r>
            <a:endParaRPr lang="en-US" sz="1800" dirty="0"/>
          </a:p>
        </p:txBody>
      </p:sp>
      <p:sp>
        <p:nvSpPr>
          <p:cNvPr id="12" name="Stat card 4"/>
          <p:cNvSpPr/>
          <p:nvPr/>
        </p:nvSpPr>
        <p:spPr>
          <a:xfrm>
            <a:off x="9006840" y="1554480"/>
            <a:ext cx="2606040" cy="1828800"/>
          </a:xfrm>
          <a:prstGeom prst="roundRect">
            <a:avLst>
              <a:gd name="adj" fmla="val 6000"/>
            </a:avLst>
          </a:prstGeom>
          <a:solidFill>
            <a:schemeClr val="tx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006840" y="169164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6000" dirty="0"/>
          </a:p>
        </p:txBody>
      </p:sp>
      <p:sp>
        <p:nvSpPr>
          <p:cNvPr id="14" name="Text 12"/>
          <p:cNvSpPr txBox="1"/>
          <p:nvPr/>
        </p:nvSpPr>
        <p:spPr>
          <a:xfrm>
            <a:off x="9006840" y="27432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chemeClr val="bg1"/>
                </a:solidFill>
              </a:rPr>
              <a:t>stored procedures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36576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Keys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2834640" y="365760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2"/>
                </a:solidFill>
              </a:rPr>
              <a:t>13 primary keys, 18 foreign keys (UPDATE CASCADE, DELETE RESTRICT)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41148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UNIQUE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2834640" y="411480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2"/>
                </a:solidFill>
              </a:rPr>
              <a:t>reg_number, phone, email, facility name, one bill per session, one slot number per zone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45720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CHECK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2834640" y="457200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2"/>
                </a:solidFill>
              </a:rPr>
              <a:t>phone, email and registration formats, positive rates and payments, valid date ranges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50292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DEFAULT / NOT NULL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2834640" y="502920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2"/>
                </a:solidFill>
              </a:rPr>
              <a:t>status columns default to safe values; every required field is NOT NULL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54864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Indexes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2834640" y="548640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2"/>
                </a:solidFill>
              </a:rPr>
              <a:t>status and type for free-slot search, entry time for reports, slot and time windows for overlap checks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Business rules enforced inside the database</a:t>
            </a:r>
            <a:endParaRPr lang="en-US" sz="3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54480"/>
          <a:ext cx="5760720" cy="329184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Rule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Enforced by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</a:rPr>
                        <a:t>One active vehicle per slot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Overlap trigger + UNIQUE generated column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</a:rPr>
                        <a:t>Slot and vehicle type match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Entry and reservation triggers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</a:rPr>
                        <a:t>Exit after entry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CHECK constraint + update trigger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</a:rPr>
                        <a:t>Reservation expiry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Entry trigger + sp_expire_reservations()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</a:rPr>
                        <a:t>Tariff-based charges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fn_bill_amount() run by bill trigger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Code card"/>
          <p:cNvSpPr/>
          <p:nvPr/>
        </p:nvSpPr>
        <p:spPr>
          <a:xfrm>
            <a:off x="6675120" y="1554480"/>
            <a:ext cx="4846320" cy="3840480"/>
          </a:xfrm>
          <a:prstGeom prst="roundRect">
            <a:avLst>
              <a:gd name="adj" fmla="val 2857"/>
            </a:avLst>
          </a:prstGeom>
          <a:solidFill>
            <a:schemeClr val="tx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6949440" y="169164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One active vehicle per slot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6949440" y="2194560"/>
            <a:ext cx="43891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active_slot_id INT UNSIGNED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GENERATED ALWAYS AS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(IF(exit_time IS NULL,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slot_id, NULL)) STORED,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CONSTRAINT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uq_one_active_vehicle_per_slot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UNIQUE (active_slot_id)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6675120" y="557784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</a:rPr>
              <a:t>The column is NULL once the vehicle exits, so only open stays compete for a slot.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Transaction awareness: exit and bill succeed together</a:t>
            </a:r>
            <a:endParaRPr lang="en-US" sz="3400" dirty="0"/>
          </a:p>
        </p:txBody>
      </p:sp>
      <p:sp>
        <p:nvSpPr>
          <p:cNvPr id="3" name="Transaction code card"/>
          <p:cNvSpPr/>
          <p:nvPr/>
        </p:nvSpPr>
        <p:spPr>
          <a:xfrm>
            <a:off x="640080" y="1463040"/>
            <a:ext cx="5852160" cy="4480560"/>
          </a:xfrm>
          <a:prstGeom prst="roundRect">
            <a:avLst>
              <a:gd name="adj" fmla="val 2449"/>
            </a:avLst>
          </a:prstGeom>
          <a:solidFill>
            <a:schemeClr val="tx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14400" y="16002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sp_vehicle_exit (simplified)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103120"/>
            <a:ext cx="5394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DECLARE EXIT HANDLER FOR SQLEXCEPTION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BEGIN ROLLBACK; RESIGNAL; END;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 TRANSACTION;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UPDATE parking_session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SET exit_time = ...;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SET v_tariff = fn_pick_tariff(...);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 no tariff? raise an error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INSERT INTO bill ...;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COMMIT;</a:t>
            </a:r>
            <a:endParaRPr lang="en-US" sz="1400" dirty="0"/>
          </a:p>
        </p:txBody>
      </p:sp>
      <p:sp>
        <p:nvSpPr>
          <p:cNvPr id="6" name="Transaction point 1"/>
          <p:cNvSpPr/>
          <p:nvPr/>
        </p:nvSpPr>
        <p:spPr>
          <a:xfrm>
            <a:off x="6766560" y="1463040"/>
            <a:ext cx="475488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040880" y="157276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 or nothing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040880" y="196596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If the bill cannot be created, the exit time is undone. A vehicle is never left exited but unbilled.</a:t>
            </a:r>
            <a:endParaRPr lang="en-US" sz="1300" dirty="0"/>
          </a:p>
        </p:txBody>
      </p:sp>
      <p:sp>
        <p:nvSpPr>
          <p:cNvPr id="9" name="Transaction point 2"/>
          <p:cNvSpPr/>
          <p:nvPr/>
        </p:nvSpPr>
        <p:spPr>
          <a:xfrm>
            <a:off x="6766560" y="3017520"/>
            <a:ext cx="475488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040880" y="312724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Single statements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7040880" y="352044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One INSERT and the triggers it fires succeed or fail as one unit (billing, payments, entries).</a:t>
            </a:r>
            <a:endParaRPr lang="en-US" sz="1300" dirty="0"/>
          </a:p>
        </p:txBody>
      </p:sp>
      <p:sp>
        <p:nvSpPr>
          <p:cNvPr id="12" name="Transaction point 3"/>
          <p:cNvSpPr/>
          <p:nvPr/>
        </p:nvSpPr>
        <p:spPr>
          <a:xfrm>
            <a:off x="6766560" y="4572000"/>
            <a:ext cx="475488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040880" y="468172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Tested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7040880" y="507492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A vehicle type with no tariff is billed in a test: the session stays open and no bill exists.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Proof: rules reject bad data</a:t>
            </a:r>
            <a:endParaRPr lang="en-US" sz="3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63040"/>
          <a:ext cx="10881360" cy="4206240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52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Test</a:t>
                      </a:r>
                      <a:endParaRPr lang="en-US" sz="1300" dirty="0"/>
                    </a:p>
                  </a:txBody>
                  <a:tcPr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Attempt</a:t>
                      </a:r>
                      <a:endParaRPr lang="en-US" sz="1300" dirty="0"/>
                    </a:p>
                  </a:txBody>
                  <a:tcPr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Database response (real output)</a:t>
                      </a:r>
                      <a:endParaRPr lang="en-US" sz="1300" dirty="0"/>
                    </a:p>
                  </a:txBody>
                  <a:tcPr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</a:rPr>
                        <a:t>T1</a:t>
                      </a:r>
                      <a:endParaRPr lang="en-US" sz="1200" dirty="0"/>
                    </a:p>
                  </a:txBody>
                  <a:tcPr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Second vehicle into an occupied slot</a:t>
                      </a:r>
                      <a:endParaRPr lang="en-US" sz="1200" dirty="0"/>
                    </a:p>
                  </a:txBody>
                  <a:tcPr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slot already holds a vehicle in that period</a:t>
                      </a:r>
                      <a:endParaRPr lang="en-US" sz="1200" dirty="0"/>
                    </a:p>
                  </a:txBody>
                  <a:tcPr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</a:rPr>
                        <a:t>T3</a:t>
                      </a:r>
                      <a:endParaRPr lang="en-US" sz="1200" dirty="0"/>
                    </a:p>
                  </a:txBody>
                  <a:tcPr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Car parked in a bike slot</a:t>
                      </a:r>
                      <a:endParaRPr lang="en-US" sz="1200" dirty="0"/>
                    </a:p>
                  </a:txBody>
                  <a:tcPr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slot type does not match vehicle type</a:t>
                      </a:r>
                      <a:endParaRPr lang="en-US" sz="1200" dirty="0"/>
                    </a:p>
                  </a:txBody>
                  <a:tcPr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</a:rPr>
                        <a:t>T4</a:t>
                      </a:r>
                      <a:endParaRPr lang="en-US" sz="1200" dirty="0"/>
                    </a:p>
                  </a:txBody>
                  <a:tcPr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Exit time before entry time</a:t>
                      </a:r>
                      <a:endParaRPr lang="en-US" sz="1200" dirty="0"/>
                    </a:p>
                  </a:txBody>
                  <a:tcPr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CHECK chk_exit_after_entry violated</a:t>
                      </a:r>
                      <a:endParaRPr lang="en-US" sz="1200" dirty="0"/>
                    </a:p>
                  </a:txBody>
                  <a:tcPr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</a:rPr>
                        <a:t>T5</a:t>
                      </a:r>
                      <a:endParaRPr lang="en-US" sz="1200" dirty="0"/>
                    </a:p>
                  </a:txBody>
                  <a:tcPr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Use an expired reservation</a:t>
                      </a:r>
                      <a:endParaRPr lang="en-US" sz="1200" dirty="0"/>
                    </a:p>
                  </a:txBody>
                  <a:tcPr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reservation expired, not active, or does not match vehicle/slot</a:t>
                      </a:r>
                      <a:endParaRPr lang="en-US" sz="1200" dirty="0"/>
                    </a:p>
                  </a:txBody>
                  <a:tcPr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</a:rPr>
                        <a:t>T7</a:t>
                      </a:r>
                      <a:endParaRPr lang="en-US" sz="1200" dirty="0"/>
                    </a:p>
                  </a:txBody>
                  <a:tcPr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Overlapping reservation on one slot</a:t>
                      </a:r>
                      <a:endParaRPr lang="en-US" sz="1200" dirty="0"/>
                    </a:p>
                  </a:txBody>
                  <a:tcPr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slot already reserved for an overlapping period</a:t>
                      </a:r>
                      <a:endParaRPr lang="en-US" sz="1200" dirty="0"/>
                    </a:p>
                  </a:txBody>
                  <a:tcPr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</a:rPr>
                        <a:t>T8</a:t>
                      </a:r>
                      <a:endParaRPr lang="en-US" sz="1200" dirty="0"/>
                    </a:p>
                  </a:txBody>
                  <a:tcPr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Walk-in into a reserved slot</a:t>
                      </a:r>
                      <a:endParaRPr lang="en-US" sz="1200" dirty="0"/>
                    </a:p>
                  </a:txBody>
                  <a:tcPr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slot is reserved by another customer at this time</a:t>
                      </a:r>
                      <a:endParaRPr lang="en-US" sz="1200" dirty="0"/>
                    </a:p>
                  </a:txBody>
                  <a:tcPr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</a:rPr>
                        <a:t>T10</a:t>
                      </a:r>
                      <a:endParaRPr lang="en-US" sz="1200" dirty="0"/>
                    </a:p>
                  </a:txBody>
                  <a:tcPr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Use an expired pass</a:t>
                      </a:r>
                      <a:endParaRPr lang="en-US" sz="1200" dirty="0"/>
                    </a:p>
                  </a:txBody>
                  <a:tcPr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pass is invalid, expired, or belongs to another customer</a:t>
                      </a:r>
                      <a:endParaRPr lang="en-US" sz="1200" dirty="0"/>
                    </a:p>
                  </a:txBody>
                  <a:tcPr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</a:rPr>
                        <a:t>T13</a:t>
                      </a:r>
                      <a:endParaRPr lang="en-US" sz="1200" dirty="0"/>
                    </a:p>
                  </a:txBody>
                  <a:tcPr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Pay more than the bill</a:t>
                      </a:r>
                      <a:endParaRPr lang="en-US" sz="1200" dirty="0"/>
                    </a:p>
                  </a:txBody>
                  <a:tcPr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payment exceeds the outstanding bill amount</a:t>
                      </a:r>
                      <a:endParaRPr lang="en-US" sz="1200" dirty="0"/>
                    </a:p>
                  </a:txBody>
                  <a:tcPr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</a:rPr>
                        <a:t>T15</a:t>
                      </a:r>
                      <a:endParaRPr lang="en-US" sz="1200" dirty="0"/>
                    </a:p>
                  </a:txBody>
                  <a:tcPr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Malformed registration number</a:t>
                      </a:r>
                      <a:endParaRPr lang="en-US" sz="1200" dirty="0"/>
                    </a:p>
                  </a:txBody>
                  <a:tcPr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CHECK chk_vehicle_reg violated</a:t>
                      </a:r>
                      <a:endParaRPr lang="en-US" sz="1200" dirty="0"/>
                    </a:p>
                  </a:txBody>
                  <a:tcPr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640080" y="59893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</a:rPr>
              <a:t>20 of 20 invalid statements were rejected (script: 05_constraint_tests.sql).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Sample data loaded through the triggers</a:t>
            </a:r>
            <a:endParaRPr lang="en-US" sz="3400" dirty="0"/>
          </a:p>
        </p:txBody>
      </p:sp>
      <p:sp>
        <p:nvSpPr>
          <p:cNvPr id="3" name="Count card 1"/>
          <p:cNvSpPr/>
          <p:nvPr/>
        </p:nvSpPr>
        <p:spPr>
          <a:xfrm>
            <a:off x="640080" y="1463040"/>
            <a:ext cx="3474720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14400" y="1463040"/>
            <a:ext cx="1463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2377440" y="146304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tx2"/>
                </a:solidFill>
              </a:rPr>
              <a:t>facilities</a:t>
            </a:r>
            <a:endParaRPr lang="en-US" sz="1700" dirty="0"/>
          </a:p>
        </p:txBody>
      </p:sp>
      <p:sp>
        <p:nvSpPr>
          <p:cNvPr id="6" name="Count card 2"/>
          <p:cNvSpPr/>
          <p:nvPr/>
        </p:nvSpPr>
        <p:spPr>
          <a:xfrm>
            <a:off x="4389120" y="1463040"/>
            <a:ext cx="3474720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663440" y="1463040"/>
            <a:ext cx="1463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6126480" y="146304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tx2"/>
                </a:solidFill>
              </a:rPr>
              <a:t>slots</a:t>
            </a:r>
            <a:endParaRPr lang="en-US" sz="1700" dirty="0"/>
          </a:p>
        </p:txBody>
      </p:sp>
      <p:sp>
        <p:nvSpPr>
          <p:cNvPr id="9" name="Count card 3"/>
          <p:cNvSpPr/>
          <p:nvPr/>
        </p:nvSpPr>
        <p:spPr>
          <a:xfrm>
            <a:off x="8138160" y="1463040"/>
            <a:ext cx="3474720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412480" y="1463040"/>
            <a:ext cx="1463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4400" dirty="0"/>
          </a:p>
        </p:txBody>
      </p:sp>
      <p:sp>
        <p:nvSpPr>
          <p:cNvPr id="11" name="Text 9"/>
          <p:cNvSpPr txBox="1"/>
          <p:nvPr/>
        </p:nvSpPr>
        <p:spPr>
          <a:xfrm>
            <a:off x="9875520" y="146304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tx2"/>
                </a:solidFill>
              </a:rPr>
              <a:t>customers</a:t>
            </a:r>
            <a:endParaRPr lang="en-US" sz="1700" dirty="0"/>
          </a:p>
        </p:txBody>
      </p:sp>
      <p:sp>
        <p:nvSpPr>
          <p:cNvPr id="12" name="Count card 4"/>
          <p:cNvSpPr/>
          <p:nvPr/>
        </p:nvSpPr>
        <p:spPr>
          <a:xfrm>
            <a:off x="640080" y="2834640"/>
            <a:ext cx="3474720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14400" y="2834640"/>
            <a:ext cx="1463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4400" dirty="0"/>
          </a:p>
        </p:txBody>
      </p:sp>
      <p:sp>
        <p:nvSpPr>
          <p:cNvPr id="14" name="Text 12"/>
          <p:cNvSpPr txBox="1"/>
          <p:nvPr/>
        </p:nvSpPr>
        <p:spPr>
          <a:xfrm>
            <a:off x="2377440" y="283464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tx2"/>
                </a:solidFill>
              </a:rPr>
              <a:t>vehicles</a:t>
            </a:r>
            <a:endParaRPr lang="en-US" sz="1700" dirty="0"/>
          </a:p>
        </p:txBody>
      </p:sp>
      <p:sp>
        <p:nvSpPr>
          <p:cNvPr id="15" name="Count card 5"/>
          <p:cNvSpPr/>
          <p:nvPr/>
        </p:nvSpPr>
        <p:spPr>
          <a:xfrm>
            <a:off x="4389120" y="2834640"/>
            <a:ext cx="3474720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663440" y="2834640"/>
            <a:ext cx="1463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4400" dirty="0"/>
          </a:p>
        </p:txBody>
      </p:sp>
      <p:sp>
        <p:nvSpPr>
          <p:cNvPr id="17" name="Text 15"/>
          <p:cNvSpPr txBox="1"/>
          <p:nvPr/>
        </p:nvSpPr>
        <p:spPr>
          <a:xfrm>
            <a:off x="6126480" y="283464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tx2"/>
                </a:solidFill>
              </a:rPr>
              <a:t>reservations</a:t>
            </a:r>
            <a:endParaRPr lang="en-US" sz="1700" dirty="0"/>
          </a:p>
        </p:txBody>
      </p:sp>
      <p:sp>
        <p:nvSpPr>
          <p:cNvPr id="18" name="Count card 6"/>
          <p:cNvSpPr/>
          <p:nvPr/>
        </p:nvSpPr>
        <p:spPr>
          <a:xfrm>
            <a:off x="8138160" y="2834640"/>
            <a:ext cx="3474720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412480" y="2834640"/>
            <a:ext cx="1463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400" dirty="0"/>
          </a:p>
        </p:txBody>
      </p:sp>
      <p:sp>
        <p:nvSpPr>
          <p:cNvPr id="20" name="Text 18"/>
          <p:cNvSpPr txBox="1"/>
          <p:nvPr/>
        </p:nvSpPr>
        <p:spPr>
          <a:xfrm>
            <a:off x="9875520" y="283464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tx2"/>
                </a:solidFill>
              </a:rPr>
              <a:t>passes</a:t>
            </a:r>
            <a:endParaRPr lang="en-US" sz="1700" dirty="0"/>
          </a:p>
        </p:txBody>
      </p:sp>
      <p:sp>
        <p:nvSpPr>
          <p:cNvPr id="21" name="Count card 7"/>
          <p:cNvSpPr/>
          <p:nvPr/>
        </p:nvSpPr>
        <p:spPr>
          <a:xfrm>
            <a:off x="640080" y="4206240"/>
            <a:ext cx="3474720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14400" y="4206240"/>
            <a:ext cx="1463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61</a:t>
            </a:r>
            <a:endParaRPr lang="en-US" sz="4400" dirty="0"/>
          </a:p>
        </p:txBody>
      </p:sp>
      <p:sp>
        <p:nvSpPr>
          <p:cNvPr id="23" name="Text 21"/>
          <p:cNvSpPr txBox="1"/>
          <p:nvPr/>
        </p:nvSpPr>
        <p:spPr>
          <a:xfrm>
            <a:off x="2377440" y="420624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tx2"/>
                </a:solidFill>
              </a:rPr>
              <a:t>parking sessions</a:t>
            </a:r>
            <a:endParaRPr lang="en-US" sz="1700" dirty="0"/>
          </a:p>
        </p:txBody>
      </p:sp>
      <p:sp>
        <p:nvSpPr>
          <p:cNvPr id="24" name="Count card 8"/>
          <p:cNvSpPr/>
          <p:nvPr/>
        </p:nvSpPr>
        <p:spPr>
          <a:xfrm>
            <a:off x="4389120" y="4206240"/>
            <a:ext cx="3474720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663440" y="4206240"/>
            <a:ext cx="1463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56</a:t>
            </a:r>
            <a:endParaRPr lang="en-US" sz="4400" dirty="0"/>
          </a:p>
        </p:txBody>
      </p:sp>
      <p:sp>
        <p:nvSpPr>
          <p:cNvPr id="26" name="Text 24"/>
          <p:cNvSpPr txBox="1"/>
          <p:nvPr/>
        </p:nvSpPr>
        <p:spPr>
          <a:xfrm>
            <a:off x="6126480" y="420624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tx2"/>
                </a:solidFill>
              </a:rPr>
              <a:t>bills</a:t>
            </a:r>
            <a:endParaRPr lang="en-US" sz="1700" dirty="0"/>
          </a:p>
        </p:txBody>
      </p:sp>
      <p:sp>
        <p:nvSpPr>
          <p:cNvPr id="27" name="Count card 9"/>
          <p:cNvSpPr/>
          <p:nvPr/>
        </p:nvSpPr>
        <p:spPr>
          <a:xfrm>
            <a:off x="8138160" y="4206240"/>
            <a:ext cx="3474720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412480" y="4206240"/>
            <a:ext cx="1463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</a:t>
            </a:r>
            <a:endParaRPr lang="en-US" sz="4400" dirty="0"/>
          </a:p>
        </p:txBody>
      </p:sp>
      <p:sp>
        <p:nvSpPr>
          <p:cNvPr id="29" name="Text 27"/>
          <p:cNvSpPr txBox="1"/>
          <p:nvPr/>
        </p:nvSpPr>
        <p:spPr>
          <a:xfrm>
            <a:off x="9875520" y="420624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tx2"/>
                </a:solidFill>
              </a:rPr>
              <a:t>payments</a:t>
            </a:r>
            <a:endParaRPr lang="en-US" sz="1700" dirty="0"/>
          </a:p>
        </p:txBody>
      </p:sp>
      <p:sp>
        <p:nvSpPr>
          <p:cNvPr id="30" name="Text 28"/>
          <p:cNvSpPr txBox="1"/>
          <p:nvPr/>
        </p:nvSpPr>
        <p:spPr>
          <a:xfrm>
            <a:off x="640080" y="56692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</a:rPr>
              <a:t>Realistic Indian registration numbers and phone numbers, 2 facilities, 3 vehicle types, a week of history, 5 vehicles inside now, partial payments and violations on purpose.</a:t>
            </a:r>
            <a:endParaRPr lang="en-US" sz="140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Joins and subqueries</a:t>
            </a:r>
            <a:endParaRPr lang="en-US" sz="3400" dirty="0"/>
          </a:p>
        </p:txBody>
      </p:sp>
      <p:sp>
        <p:nvSpPr>
          <p:cNvPr id="3" name="Join card"/>
          <p:cNvSpPr/>
          <p:nvPr/>
        </p:nvSpPr>
        <p:spPr>
          <a:xfrm>
            <a:off x="640080" y="1463040"/>
            <a:ext cx="5303520" cy="4663440"/>
          </a:xfrm>
          <a:prstGeom prst="roundRect">
            <a:avLst>
              <a:gd name="adj" fmla="val 2353"/>
            </a:avLst>
          </a:prstGeom>
          <a:solidFill>
            <a:schemeClr val="tx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14400" y="16002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Q1  Who is parked now (5-table join)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057400"/>
            <a:ext cx="4846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v.reg_number, vt.type_name,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l.facility, l.slot_no,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TIMESTAMPDIFF(MINUTE,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ps.entry_time, NOW()) AS mins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parking_session ps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vehicle v ON v.vehicle_id=ps.vehicle_id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vehicle_type vt ON vt.type_id=v.type_id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v_slot_location l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 l.slot_id=ps.slot_id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ps.exit_time IS NULL;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498348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AP29TT7070  Truck  T01  1800 min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TS11TR2468  Truck  T01  300 min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TS09ZX5050  Bike  B01  180 min</a:t>
            </a:r>
            <a:endParaRPr lang="en-US" sz="1300" dirty="0"/>
          </a:p>
        </p:txBody>
      </p:sp>
      <p:sp>
        <p:nvSpPr>
          <p:cNvPr id="7" name="Subquery card"/>
          <p:cNvSpPr/>
          <p:nvPr/>
        </p:nvSpPr>
        <p:spPr>
          <a:xfrm>
            <a:off x="6245352" y="1463040"/>
            <a:ext cx="5303520" cy="4663440"/>
          </a:xfrm>
          <a:prstGeom prst="roundRect">
            <a:avLst>
              <a:gd name="adj" fmla="val 2353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519672" y="16002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Q4  Bills above the average for the vehicle type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519672" y="2057400"/>
            <a:ext cx="48463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b.bill_id, v.reg_number, b.amount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bill b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parking_session ps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 ps.session_id=b.session_id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vehicle v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 v.vehicle_id=ps.vehicle_id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b.amount 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(SELECT AVG(b2.amount)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FROM bill b2 JOIN parking_session p2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ON p2.session_id=b2.session_id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JOIN vehicle v2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ON v2.vehicle_id=p2.vehicle_id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WHERE v2.type_id=v.type_id);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519672" y="534924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5"/>
                </a:solidFill>
              </a:rPr>
              <a:t>Result: bill 38 (Rs 250), bill 47 (Rs 210), bill 10 (Rs 200) ...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Reports: peak hours and revenue</a:t>
            </a:r>
            <a:endParaRPr lang="en-US" sz="34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640080" y="1463040"/>
          <a:ext cx="658368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" name="Chart 1"/>
          <p:cNvGraphicFramePr/>
          <p:nvPr/>
        </p:nvGraphicFramePr>
        <p:xfrm>
          <a:off x="7406640" y="1463040"/>
          <a:ext cx="411480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5" name="Text 1"/>
          <p:cNvSpPr txBox="1"/>
          <p:nvPr/>
        </p:nvSpPr>
        <p:spPr>
          <a:xfrm>
            <a:off x="640080" y="585216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</a:rPr>
              <a:t>Peaks fall at 10:00 and in the 08:00-09:00 and 18:00 windows. Rs 4,650 billed so far, about 81% collected.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Reports: violations, pass usage and free slots</a:t>
            </a:r>
            <a:endParaRPr lang="en-US" sz="3400" dirty="0"/>
          </a:p>
        </p:txBody>
      </p:sp>
      <p:sp>
        <p:nvSpPr>
          <p:cNvPr id="3" name="Violation card 1"/>
          <p:cNvSpPr/>
          <p:nvPr/>
        </p:nvSpPr>
        <p:spPr>
          <a:xfrm>
            <a:off x="640080" y="1463040"/>
            <a:ext cx="2606040" cy="13716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68680" y="1508760"/>
            <a:ext cx="914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1783080" y="1508760"/>
            <a:ext cx="1371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Unpaid over 24 h</a:t>
            </a:r>
            <a:endParaRPr lang="en-US" sz="1400" dirty="0"/>
          </a:p>
        </p:txBody>
      </p:sp>
      <p:sp>
        <p:nvSpPr>
          <p:cNvPr id="6" name="Violation card 2"/>
          <p:cNvSpPr/>
          <p:nvPr/>
        </p:nvSpPr>
        <p:spPr>
          <a:xfrm>
            <a:off x="3429000" y="1463040"/>
            <a:ext cx="2606040" cy="13716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657600" y="1508760"/>
            <a:ext cx="914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4572000" y="1508760"/>
            <a:ext cx="1371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Overstay past reservation</a:t>
            </a:r>
            <a:endParaRPr lang="en-US" sz="1400" dirty="0"/>
          </a:p>
        </p:txBody>
      </p:sp>
      <p:sp>
        <p:nvSpPr>
          <p:cNvPr id="9" name="Violation card 3"/>
          <p:cNvSpPr/>
          <p:nvPr/>
        </p:nvSpPr>
        <p:spPr>
          <a:xfrm>
            <a:off x="6217920" y="1463040"/>
            <a:ext cx="2606040" cy="13716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46520" y="1508760"/>
            <a:ext cx="914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7360920" y="1508760"/>
            <a:ext cx="1371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Pass expired during stay</a:t>
            </a:r>
            <a:endParaRPr lang="en-US" sz="1400" dirty="0"/>
          </a:p>
        </p:txBody>
      </p:sp>
      <p:sp>
        <p:nvSpPr>
          <p:cNvPr id="12" name="Violation card 4"/>
          <p:cNvSpPr/>
          <p:nvPr/>
        </p:nvSpPr>
        <p:spPr>
          <a:xfrm>
            <a:off x="9006840" y="1463040"/>
            <a:ext cx="2606040" cy="13716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235440" y="1508760"/>
            <a:ext cx="914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10149840" y="1508760"/>
            <a:ext cx="1371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Stay over 24 h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30632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 usage</a:t>
            </a:r>
            <a:endParaRPr lang="en-US" sz="18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474720"/>
          <a:ext cx="6035040" cy="205740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Holder</a:t>
                      </a:r>
                      <a:endParaRPr lang="en-US" sz="1200" dirty="0"/>
                    </a:p>
                  </a:txBody>
                  <a:tcPr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1200" dirty="0"/>
                    </a:p>
                  </a:txBody>
                  <a:tcPr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State</a:t>
                      </a:r>
                      <a:endParaRPr lang="en-US" sz="1200" dirty="0"/>
                    </a:p>
                  </a:txBody>
                  <a:tcPr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Visits</a:t>
                      </a:r>
                      <a:endParaRPr lang="en-US" sz="1200" dirty="0"/>
                    </a:p>
                  </a:txBody>
                  <a:tcPr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Hours</a:t>
                      </a:r>
                      <a:endParaRPr lang="en-US" sz="1200" dirty="0"/>
                    </a:p>
                  </a:txBody>
                  <a:tcPr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</a:rPr>
                        <a:t>Ravi Kumar</a:t>
                      </a:r>
                      <a:endParaRPr lang="en-US" sz="1200" dirty="0"/>
                    </a:p>
                  </a:txBody>
                  <a:tcPr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MONTHLY</a:t>
                      </a:r>
                      <a:endParaRPr lang="en-US" sz="1200" dirty="0"/>
                    </a:p>
                  </a:txBody>
                  <a:tcPr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ACTIVE</a:t>
                      </a:r>
                      <a:endParaRPr lang="en-US" sz="1200" dirty="0"/>
                    </a:p>
                  </a:txBody>
                  <a:tcPr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35.7</a:t>
                      </a:r>
                      <a:endParaRPr lang="en-US" sz="1200" dirty="0"/>
                    </a:p>
                  </a:txBody>
                  <a:tcPr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</a:rPr>
                        <a:t>Priya Nair</a:t>
                      </a:r>
                      <a:endParaRPr lang="en-US" sz="1200" dirty="0"/>
                    </a:p>
                  </a:txBody>
                  <a:tcPr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MONTHLY</a:t>
                      </a:r>
                      <a:endParaRPr lang="en-US" sz="1200" dirty="0"/>
                    </a:p>
                  </a:txBody>
                  <a:tcPr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ACTIVE</a:t>
                      </a:r>
                      <a:endParaRPr lang="en-US" sz="1200" dirty="0"/>
                    </a:p>
                  </a:txBody>
                  <a:tcPr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26.5</a:t>
                      </a:r>
                      <a:endParaRPr lang="en-US" sz="1200" dirty="0"/>
                    </a:p>
                  </a:txBody>
                  <a:tcPr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</a:rPr>
                        <a:t>Arjun Verma</a:t>
                      </a:r>
                      <a:endParaRPr lang="en-US" sz="1200" dirty="0"/>
                    </a:p>
                  </a:txBody>
                  <a:tcPr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MONTHLY</a:t>
                      </a:r>
                      <a:endParaRPr lang="en-US" sz="1200" dirty="0"/>
                    </a:p>
                  </a:txBody>
                  <a:tcPr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EXPIRED</a:t>
                      </a:r>
                      <a:endParaRPr lang="en-US" sz="1200" dirty="0"/>
                    </a:p>
                  </a:txBody>
                  <a:tcPr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21.0</a:t>
                      </a:r>
                      <a:endParaRPr lang="en-US" sz="1200" dirty="0"/>
                    </a:p>
                  </a:txBody>
                  <a:tcPr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</a:rPr>
                        <a:t>Kavya Rao</a:t>
                      </a:r>
                      <a:endParaRPr lang="en-US" sz="1200" dirty="0"/>
                    </a:p>
                  </a:txBody>
                  <a:tcPr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ANNUAL</a:t>
                      </a:r>
                      <a:endParaRPr lang="en-US" sz="1200" dirty="0"/>
                    </a:p>
                  </a:txBody>
                  <a:tcPr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ACTIVE</a:t>
                      </a:r>
                      <a:endParaRPr lang="en-US" sz="1200" dirty="0"/>
                    </a:p>
                  </a:txBody>
                  <a:tcPr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0.0</a:t>
                      </a:r>
                      <a:endParaRPr lang="en-US" sz="1200" dirty="0"/>
                    </a:p>
                  </a:txBody>
                  <a:tcPr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6" name="Text 14"/>
          <p:cNvSpPr txBox="1"/>
          <p:nvPr/>
        </p:nvSpPr>
        <p:spPr>
          <a:xfrm>
            <a:off x="7040880" y="3063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Free slots now</a:t>
            </a:r>
            <a:endParaRPr lang="en-US" sz="1800" dirty="0"/>
          </a:p>
        </p:txBody>
      </p:sp>
      <p:graphicFrame>
        <p:nvGraphicFramePr>
          <p:cNvPr id="3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040880" y="3474720"/>
          <a:ext cx="4480560" cy="256032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Facility</a:t>
                      </a:r>
                      <a:endParaRPr lang="en-US" sz="1200" dirty="0"/>
                    </a:p>
                  </a:txBody>
                  <a:tcPr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1200" dirty="0"/>
                    </a:p>
                  </a:txBody>
                  <a:tcPr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Free</a:t>
                      </a:r>
                      <a:endParaRPr lang="en-US" sz="1200" dirty="0"/>
                    </a:p>
                  </a:txBody>
                  <a:tcPr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Lakeview Mall</a:t>
                      </a:r>
                      <a:endParaRPr lang="en-US" sz="1200" dirty="0"/>
                    </a:p>
                  </a:txBody>
                  <a:tcPr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Bike</a:t>
                      </a:r>
                      <a:endParaRPr lang="en-US" sz="1200" dirty="0"/>
                    </a:p>
                  </a:txBody>
                  <a:tcPr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</a:rPr>
                        <a:t>6</a:t>
                      </a:r>
                      <a:endParaRPr lang="en-US" sz="1200" dirty="0"/>
                    </a:p>
                  </a:txBody>
                  <a:tcPr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Lakeview Mall</a:t>
                      </a:r>
                      <a:endParaRPr lang="en-US" sz="1200" dirty="0"/>
                    </a:p>
                  </a:txBody>
                  <a:tcPr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Car</a:t>
                      </a:r>
                      <a:endParaRPr lang="en-US" sz="1200" dirty="0"/>
                    </a:p>
                  </a:txBody>
                  <a:tcPr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</a:rPr>
                        <a:t>22</a:t>
                      </a:r>
                      <a:endParaRPr lang="en-US" sz="1200" dirty="0"/>
                    </a:p>
                  </a:txBody>
                  <a:tcPr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Lakeview Mall</a:t>
                      </a:r>
                      <a:endParaRPr lang="en-US" sz="1200" dirty="0"/>
                    </a:p>
                  </a:txBody>
                  <a:tcPr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Truck</a:t>
                      </a:r>
                      <a:endParaRPr lang="en-US" sz="1200" dirty="0"/>
                    </a:p>
                  </a:txBody>
                  <a:tcPr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Tech Park</a:t>
                      </a:r>
                      <a:endParaRPr lang="en-US" sz="1200" dirty="0"/>
                    </a:p>
                  </a:txBody>
                  <a:tcPr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Bike</a:t>
                      </a:r>
                      <a:endParaRPr lang="en-US" sz="1200" dirty="0"/>
                    </a:p>
                  </a:txBody>
                  <a:tcPr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Tech Park</a:t>
                      </a:r>
                      <a:endParaRPr lang="en-US" sz="1200" dirty="0"/>
                    </a:p>
                  </a:txBody>
                  <a:tcPr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Car</a:t>
                      </a:r>
                      <a:endParaRPr lang="en-US" sz="1200" dirty="0"/>
                    </a:p>
                  </a:txBody>
                  <a:tcPr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</a:rPr>
                        <a:t>11</a:t>
                      </a:r>
                      <a:endParaRPr lang="en-US" sz="1200" dirty="0"/>
                    </a:p>
                  </a:txBody>
                  <a:tcPr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Tech Park</a:t>
                      </a:r>
                      <a:endParaRPr lang="en-US" sz="1200" dirty="0"/>
                    </a:p>
                  </a:txBody>
                  <a:tcPr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Truck</a:t>
                      </a:r>
                      <a:endParaRPr lang="en-US" sz="1200" dirty="0"/>
                    </a:p>
                  </a:txBody>
                  <a:tcPr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Prototype demo: one visit from gate to payment</a:t>
            </a:r>
            <a:endParaRPr lang="en-US" sz="3400" dirty="0"/>
          </a:p>
        </p:txBody>
      </p:sp>
      <p:sp>
        <p:nvSpPr>
          <p:cNvPr id="3" name="Flow card 1"/>
          <p:cNvSpPr/>
          <p:nvPr/>
        </p:nvSpPr>
        <p:spPr>
          <a:xfrm>
            <a:off x="640080" y="1554480"/>
            <a:ext cx="347472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14400" y="17373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 Entry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28600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sp_vehicle_entry: car MH12AB3030 gets slot C01 in basement zone B1-CAR. Free car slots: 22 to 21.</a:t>
            </a:r>
            <a:endParaRPr lang="en-US" sz="1400" dirty="0"/>
          </a:p>
        </p:txBody>
      </p:sp>
      <p:sp>
        <p:nvSpPr>
          <p:cNvPr id="6" name="Flow card 2"/>
          <p:cNvSpPr/>
          <p:nvPr/>
        </p:nvSpPr>
        <p:spPr>
          <a:xfrm>
            <a:off x="4389120" y="1554480"/>
            <a:ext cx="3474720" cy="2011680"/>
          </a:xfrm>
          <a:prstGeom prst="roundRect">
            <a:avLst>
              <a:gd name="adj" fmla="val 5455"/>
            </a:avLst>
          </a:prstGeom>
          <a:solidFill>
            <a:schemeClr val="tx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663440" y="17373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 Slot status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4663440" y="228600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Slot turns OCCUPIED by trigger; the slot is blocked for any other vehicle.</a:t>
            </a:r>
            <a:endParaRPr lang="en-US" sz="1400" dirty="0"/>
          </a:p>
        </p:txBody>
      </p:sp>
      <p:sp>
        <p:nvSpPr>
          <p:cNvPr id="9" name="Flow card 3"/>
          <p:cNvSpPr/>
          <p:nvPr/>
        </p:nvSpPr>
        <p:spPr>
          <a:xfrm>
            <a:off x="8138160" y="1554480"/>
            <a:ext cx="347472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412480" y="17373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 Exit and bill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8412480" y="228600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sp_vehicle_exit after 200 min: rounded up to 4 h at Rs 30/h, bill Rs 120.00, UNPAID.</a:t>
            </a:r>
            <a:endParaRPr lang="en-US" sz="1400" dirty="0"/>
          </a:p>
        </p:txBody>
      </p:sp>
      <p:sp>
        <p:nvSpPr>
          <p:cNvPr id="12" name="Flow card 4"/>
          <p:cNvSpPr/>
          <p:nvPr/>
        </p:nvSpPr>
        <p:spPr>
          <a:xfrm>
            <a:off x="640080" y="3794760"/>
            <a:ext cx="3474720" cy="2011680"/>
          </a:xfrm>
          <a:prstGeom prst="roundRect">
            <a:avLst>
              <a:gd name="adj" fmla="val 5455"/>
            </a:avLst>
          </a:prstGeom>
          <a:solidFill>
            <a:schemeClr val="tx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14400" y="39776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 Part payment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452628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Rs 50 by UPI: status becomes PARTIAL.</a:t>
            </a:r>
            <a:endParaRPr lang="en-US" sz="1400" dirty="0"/>
          </a:p>
        </p:txBody>
      </p:sp>
      <p:sp>
        <p:nvSpPr>
          <p:cNvPr id="15" name="Flow card 5"/>
          <p:cNvSpPr/>
          <p:nvPr/>
        </p:nvSpPr>
        <p:spPr>
          <a:xfrm>
            <a:off x="4389120" y="3794760"/>
            <a:ext cx="347472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663440" y="39776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 Final payment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4663440" y="452628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Rs 70 in cash: status becomes PAID; overpaying is rejected.</a:t>
            </a:r>
            <a:endParaRPr lang="en-US" sz="1400" dirty="0"/>
          </a:p>
        </p:txBody>
      </p:sp>
      <p:sp>
        <p:nvSpPr>
          <p:cNvPr id="18" name="Flow card 6"/>
          <p:cNvSpPr/>
          <p:nvPr/>
        </p:nvSpPr>
        <p:spPr>
          <a:xfrm>
            <a:off x="8138160" y="3794760"/>
            <a:ext cx="3474720" cy="2011680"/>
          </a:xfrm>
          <a:prstGeom prst="roundRect">
            <a:avLst>
              <a:gd name="adj" fmla="val 5455"/>
            </a:avLst>
          </a:prstGeom>
          <a:solidFill>
            <a:schemeClr val="tx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412480" y="39776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 Tamper test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8412480" y="452628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Bill inserted with Rs 1.00 typed in: the trigger stored Rs 30.00 (3 h x Rs 10).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59893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accent4"/>
                </a:solidFill>
              </a:rPr>
              <a:t>Script: 06_prototype_demo.sql. The same procedure calls will be used by the Review 3 front end.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Python front end connected to the same database</a:t>
            </a:r>
            <a:endParaRPr lang="en-US" sz="3400" dirty="0"/>
          </a:p>
        </p:txBody>
      </p:sp>
      <p:pic>
        <p:nvPicPr>
          <p:cNvPr id="3" name="Image 0" descr="Gate exit: sp_vehicle_exit creates the bill, Rs 120.00 for 200 minutes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417320"/>
            <a:ext cx="5364480" cy="3017520"/>
          </a:xfrm>
          <a:prstGeom prst="rect">
            <a:avLst/>
          </a:prstGeom>
        </p:spPr>
      </p:pic>
      <p:sp>
        <p:nvSpPr>
          <p:cNvPr id="4" name="Screenshot border"/>
          <p:cNvSpPr/>
          <p:nvPr/>
        </p:nvSpPr>
        <p:spPr>
          <a:xfrm>
            <a:off x="640080" y="1417320"/>
            <a:ext cx="5364480" cy="3017520"/>
          </a:xfrm>
          <a:prstGeom prst="rect">
            <a:avLst/>
          </a:prstGeom>
          <a:ln w="12700">
            <a:solidFill>
              <a:srgbClr val="D1D5DB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40080" y="457200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2"/>
                </a:solidFill>
              </a:rPr>
              <a:t>Gate exit: sp_vehicle_exit creates the bill, Rs 120.00 for 200 minutes.</a:t>
            </a:r>
            <a:endParaRPr lang="en-US" sz="1500" dirty="0"/>
          </a:p>
        </p:txBody>
      </p:sp>
      <p:pic>
        <p:nvPicPr>
          <p:cNvPr id="6" name="Image 1" descr="Billing: sp_make_payment records Rs 50, status becomes PARTIAL.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1417320"/>
            <a:ext cx="5364480" cy="3017520"/>
          </a:xfrm>
          <a:prstGeom prst="rect">
            <a:avLst/>
          </a:prstGeom>
        </p:spPr>
      </p:pic>
      <p:sp>
        <p:nvSpPr>
          <p:cNvPr id="7" name="Screenshot border"/>
          <p:cNvSpPr/>
          <p:nvPr/>
        </p:nvSpPr>
        <p:spPr>
          <a:xfrm>
            <a:off x="6309360" y="1417320"/>
            <a:ext cx="5364480" cy="3017520"/>
          </a:xfrm>
          <a:prstGeom prst="rect">
            <a:avLst/>
          </a:prstGeom>
          <a:ln w="12700">
            <a:solidFill>
              <a:srgbClr val="D1D5DB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6309360" y="457200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2"/>
                </a:solidFill>
              </a:rPr>
              <a:t>Billing: sp_make_payment records Rs 50, status becomes PARTIAL.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640080" y="54406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accent4"/>
                </a:solidFill>
              </a:rPr>
              <a:t>The application only calls the stored procedures and views shown in this review. All business rules stay inside MySQL.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Implementation progress and plan for Review 3</a:t>
            </a:r>
            <a:endParaRPr lang="en-US" sz="3400" dirty="0"/>
          </a:p>
        </p:txBody>
      </p:sp>
      <p:sp>
        <p:nvSpPr>
          <p:cNvPr id="3" name="Done card"/>
          <p:cNvSpPr/>
          <p:nvPr/>
        </p:nvSpPr>
        <p:spPr>
          <a:xfrm>
            <a:off x="640080" y="1554480"/>
            <a:ext cx="5303520" cy="4480560"/>
          </a:xfrm>
          <a:prstGeom prst="roundRect">
            <a:avLst>
              <a:gd name="adj" fmla="val 2449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14400" y="17373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Completed</a:t>
            </a:r>
            <a:endParaRPr lang="en-US" sz="2200" dirty="0"/>
          </a:p>
        </p:txBody>
      </p:sp>
      <p:pic>
        <p:nvPicPr>
          <p:cNvPr id="5" name="Image 0" descr="Do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377440"/>
            <a:ext cx="292608" cy="29260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2286000"/>
            <a:ext cx="4389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3NF design, FDs and data dictionary</a:t>
            </a:r>
            <a:endParaRPr lang="en-US" sz="1600" dirty="0"/>
          </a:p>
        </p:txBody>
      </p:sp>
      <p:pic>
        <p:nvPicPr>
          <p:cNvPr id="7" name="Image 1" descr="Do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035808"/>
            <a:ext cx="292608" cy="29260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371600" y="2944368"/>
            <a:ext cx="4389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DDL, triggers, procedures, transactions</a:t>
            </a:r>
            <a:endParaRPr lang="en-US" sz="1600" dirty="0"/>
          </a:p>
        </p:txBody>
      </p:sp>
      <p:pic>
        <p:nvPicPr>
          <p:cNvPr id="9" name="Image 2" descr="Do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694176"/>
            <a:ext cx="292608" cy="292608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371600" y="3602736"/>
            <a:ext cx="4389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Sample data, 17 queries, 9 views</a:t>
            </a:r>
            <a:endParaRPr lang="en-US" sz="1600" dirty="0"/>
          </a:p>
        </p:txBody>
      </p:sp>
      <p:pic>
        <p:nvPicPr>
          <p:cNvPr id="11" name="Image 3" descr="Do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352544"/>
            <a:ext cx="292608" cy="292608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371600" y="4261104"/>
            <a:ext cx="4389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20 database rule tests passed</a:t>
            </a:r>
            <a:endParaRPr lang="en-US" sz="1600" dirty="0"/>
          </a:p>
        </p:txBody>
      </p:sp>
      <p:pic>
        <p:nvPicPr>
          <p:cNvPr id="13" name="Image 4" descr="Do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5010912"/>
            <a:ext cx="292608" cy="292608"/>
          </a:xfrm>
          <a:prstGeom prst="rect">
            <a:avLst/>
          </a:prstGeom>
        </p:spPr>
      </p:pic>
      <p:sp>
        <p:nvSpPr>
          <p:cNvPr id="14" name="Text 7"/>
          <p:cNvSpPr txBox="1"/>
          <p:nvPr/>
        </p:nvSpPr>
        <p:spPr>
          <a:xfrm>
            <a:off x="1371600" y="4919472"/>
            <a:ext cx="4389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Python app connected and tested</a:t>
            </a:r>
            <a:endParaRPr lang="en-US" sz="1600" dirty="0"/>
          </a:p>
        </p:txBody>
      </p:sp>
      <p:sp>
        <p:nvSpPr>
          <p:cNvPr id="15" name="Plan card"/>
          <p:cNvSpPr/>
          <p:nvPr/>
        </p:nvSpPr>
        <p:spPr>
          <a:xfrm>
            <a:off x="6245352" y="1554480"/>
            <a:ext cx="5303520" cy="4480560"/>
          </a:xfrm>
          <a:prstGeom prst="roundRect">
            <a:avLst>
              <a:gd name="adj" fmla="val 2449"/>
            </a:avLst>
          </a:prstGeom>
          <a:solidFill>
            <a:schemeClr val="tx2"/>
          </a:solidFill>
          <a:ln/>
        </p:spPr>
      </p:sp>
      <p:sp>
        <p:nvSpPr>
          <p:cNvPr id="16" name="Text 9"/>
          <p:cNvSpPr txBox="1"/>
          <p:nvPr/>
        </p:nvSpPr>
        <p:spPr>
          <a:xfrm>
            <a:off x="6519672" y="17373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 3 plan</a:t>
            </a:r>
            <a:endParaRPr lang="en-US" sz="2200" dirty="0"/>
          </a:p>
        </p:txBody>
      </p:sp>
      <p:sp>
        <p:nvSpPr>
          <p:cNvPr id="17" name="Text 10"/>
          <p:cNvSpPr txBox="1"/>
          <p:nvPr/>
        </p:nvSpPr>
        <p:spPr>
          <a:xfrm>
            <a:off x="6519672" y="2286000"/>
            <a:ext cx="47548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Final Python (Tkinter) application, 10 screens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Search, reservation, gate, billing, passes, tariffs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Reports with charts and CSV export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Validation, friendly errors, zoomable screen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23 automated tests, report, GitHub repository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mart Parking">
  <a:themeElements>
    <a:clrScheme name="Smart Parking">
      <a:dk1>
        <a:srgbClr val="111827"/>
      </a:dk1>
      <a:lt1>
        <a:srgbClr val="FFFFFF"/>
      </a:lt1>
      <a:dk2>
        <a:srgbClr val="1F2937"/>
      </a:dk2>
      <a:lt2>
        <a:srgbClr val="F3F4F6"/>
      </a:lt2>
      <a:accent1>
        <a:srgbClr val="F5B301"/>
      </a:accent1>
      <a:accent2>
        <a:srgbClr val="0F766E"/>
      </a:accent2>
      <a:accent3>
        <a:srgbClr val="B45309"/>
      </a:accent3>
      <a:accent4>
        <a:srgbClr val="6B7280"/>
      </a:accent4>
      <a:accent5>
        <a:srgbClr val="374151"/>
      </a:accent5>
      <a:accent6>
        <a:srgbClr val="D1D5DB"/>
      </a:accent6>
      <a:hlink>
        <a:srgbClr val="0F766E"/>
      </a:hlink>
      <a:folHlink>
        <a:srgbClr val="6B7280"/>
      </a:folHlink>
    </a:clrScheme>
    <a:fontScheme name="Smart Parking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</TotalTime>
  <Words>2449</Words>
  <Application>Microsoft Office PowerPoint</Application>
  <PresentationFormat>Widescreen</PresentationFormat>
  <Paragraphs>398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Cambria</vt:lpstr>
      <vt:lpstr>Courier New</vt:lpstr>
      <vt:lpstr>Smart Parking</vt:lpstr>
      <vt:lpstr>Design and Implementation of a Database Management System for Smart Parking Lot Allocation and Billing System</vt:lpstr>
      <vt:lpstr>Where we stand after Review 1</vt:lpstr>
      <vt:lpstr>Normalization: from one flat record to 13 tables</vt:lpstr>
      <vt:lpstr>What normalization changed in the ER design</vt:lpstr>
      <vt:lpstr>Functional dependencies</vt:lpstr>
      <vt:lpstr>3NF result and controlled redundancy</vt:lpstr>
      <vt:lpstr>Data dictionary 1: facility and master data</vt:lpstr>
      <vt:lpstr>Data dictionary 2: customers, sessions and billing</vt:lpstr>
      <vt:lpstr>DDL scripts at a glance</vt:lpstr>
      <vt:lpstr>Business rules enforced inside the database</vt:lpstr>
      <vt:lpstr>Transaction awareness: exit and bill succeed together</vt:lpstr>
      <vt:lpstr>Proof: rules reject bad data</vt:lpstr>
      <vt:lpstr>Sample data loaded through the triggers</vt:lpstr>
      <vt:lpstr>Joins and subqueries</vt:lpstr>
      <vt:lpstr>Reports: peak hours and revenue</vt:lpstr>
      <vt:lpstr>Reports: violations, pass usage and free slots</vt:lpstr>
      <vt:lpstr>Prototype demo: one visit from gate to payment</vt:lpstr>
      <vt:lpstr>Python front end connected to the same database</vt:lpstr>
      <vt:lpstr>Implementation progress and plan for Review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Parking DBMS - Review 2</dc:title>
  <dc:subject>PptxGenJS Presentation</dc:subject>
  <dc:creator>PptxGenJS</dc:creator>
  <cp:lastModifiedBy>Snigdha Choudary Devalla</cp:lastModifiedBy>
  <cp:revision>2</cp:revision>
  <dcterms:created xsi:type="dcterms:W3CDTF">2026-10-14T03:24:34Z</dcterms:created>
  <dcterms:modified xsi:type="dcterms:W3CDTF">2026-10-14T18:18:13Z</dcterms:modified>
</cp:coreProperties>
</file>