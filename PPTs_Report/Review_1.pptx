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DE82962-44B8-0BCA-8DB3-AD86D37A4891}">
          <p14:sldIdLst>
            <p14:sldId id="256"/>
          </p14:sldIdLst>
        </p14:section>
        <p14:section name="Problem and requirements" id="{1C4E4871-9461-B117-3691-5C4428F5C086}">
          <p14:sldIdLst>
            <p14:sldId id="257"/>
            <p14:sldId id="258"/>
            <p14:sldId id="259"/>
            <p14:sldId id="260"/>
            <p14:sldId id="261"/>
          </p14:sldIdLst>
        </p14:section>
        <p14:section name="Conceptual design" id="{BF5E404E-BB17-0461-6370-AD66FD72E31D}">
          <p14:sldIdLst>
            <p14:sldId id="262"/>
            <p14:sldId id="263"/>
            <p14:sldId id="264"/>
            <p14:sldId id="265"/>
          </p14:sldIdLst>
        </p14:section>
        <p14:section name="Initial relational schema" id="{DC0F48C8-4019-C52E-5807-C6D2B7998CD0}">
          <p14:sldIdLst>
            <p14:sldId id="266"/>
            <p14:sldId id="267"/>
          </p14:sldIdLst>
        </p14:section>
        <p14:section name="Plan" id="{53A15AFC-0AD1-1C2E-9B49-1BF000507E3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29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relational database for smart parking allocation and billing. Today's review covers the problem, ER design and the initial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real-world pain points before moving to the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full ER diagram. The next two slides zoom into each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Smart Parking Lot Allocation and Billing  |  Review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Design and Implementation of a Database Management System for Smart Parking Lot Allocation and Billing System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96834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/>
                </a:solidFill>
              </a:rPr>
              <a:t>REVIEW 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Problem identification, ER design and initial relational schema</a:t>
            </a:r>
            <a:endParaRPr lang="en-US" sz="1800" dirty="0"/>
          </a:p>
        </p:txBody>
      </p:sp>
      <p:sp>
        <p:nvSpPr>
          <p:cNvPr id="6" name="Motif circle"/>
          <p:cNvSpPr/>
          <p:nvPr/>
        </p:nvSpPr>
        <p:spPr>
          <a:xfrm>
            <a:off x="8778240" y="1463040"/>
            <a:ext cx="2926080" cy="29260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" name="Parking sign"/>
          <p:cNvSpPr/>
          <p:nvPr/>
        </p:nvSpPr>
        <p:spPr>
          <a:xfrm>
            <a:off x="9144000" y="1828800"/>
            <a:ext cx="2194560" cy="219456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0" y="18288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The problem: manual tickets cause chaos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640080" y="164592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Icon circle 1"/>
          <p:cNvSpPr/>
          <p:nvPr/>
        </p:nvSpPr>
        <p:spPr>
          <a:xfrm>
            <a:off x="960120" y="19202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Slot conflict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1488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 conflicts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383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Two vehicles are sent to the same slot, or a bike takes a truck bay, because nobody sees live availability.</a:t>
            </a:r>
            <a:endParaRPr lang="en-US" sz="1500" dirty="0"/>
          </a:p>
        </p:txBody>
      </p:sp>
      <p:sp>
        <p:nvSpPr>
          <p:cNvPr id="8" name="Problem card 2"/>
          <p:cNvSpPr/>
          <p:nvPr/>
        </p:nvSpPr>
        <p:spPr>
          <a:xfrm>
            <a:off x="4389120" y="164592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Icon circle 2"/>
          <p:cNvSpPr/>
          <p:nvPr/>
        </p:nvSpPr>
        <p:spPr>
          <a:xfrm>
            <a:off x="4709160" y="19202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Revenue leakag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1488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leakage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3383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Lost or reused paper tickets and unrecorded exits mean some stays are never billed.</a:t>
            </a:r>
            <a:endParaRPr lang="en-US" sz="1500" dirty="0"/>
          </a:p>
        </p:txBody>
      </p:sp>
      <p:sp>
        <p:nvSpPr>
          <p:cNvPr id="13" name="Problem card 3"/>
          <p:cNvSpPr/>
          <p:nvPr/>
        </p:nvSpPr>
        <p:spPr>
          <a:xfrm>
            <a:off x="8138160" y="164592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Icon circle 3"/>
          <p:cNvSpPr/>
          <p:nvPr/>
        </p:nvSpPr>
        <p:spPr>
          <a:xfrm>
            <a:off x="8458200" y="19202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No reliable record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1488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reliable records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3832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Reservations, passes and payments sit in different notebooks, so reports on occupancy and peak hours are guesswork.</a:t>
            </a:r>
            <a:endParaRPr lang="en-US" sz="1500" dirty="0"/>
          </a:p>
        </p:txBody>
      </p:sp>
      <p:sp>
        <p:nvSpPr>
          <p:cNvPr id="18" name="Takeaway banner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14400" y="50749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Our answer: </a:t>
            </a:r>
            <a:r>
              <a:rPr lang="en-US" sz="1700" dirty="0">
                <a:solidFill>
                  <a:schemeClr val="bg1"/>
                </a:solidFill>
              </a:rPr>
              <a:t>one central database that allocates slots live, records every entry and exit, and bills by tariff.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Scope and objectives</a:t>
            </a:r>
            <a:endParaRPr lang="en-US" sz="3400" dirty="0"/>
          </a:p>
        </p:txBody>
      </p:sp>
      <p:sp>
        <p:nvSpPr>
          <p:cNvPr id="3" name="Scope card"/>
          <p:cNvSpPr/>
          <p:nvPr/>
        </p:nvSpPr>
        <p:spPr>
          <a:xfrm>
            <a:off x="64008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Multi-level facilities with floors, zones and slots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Customers, vehicles and vehicle types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Reservations, entry/exit and slot allocation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Passes, tariffs, bills and payments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Reports: occupancy, peak hours, violations, revenue</a:t>
            </a:r>
            <a:endParaRPr lang="en-US" sz="1800" dirty="0"/>
          </a:p>
        </p:txBody>
      </p:sp>
      <p:sp>
        <p:nvSpPr>
          <p:cNvPr id="6" name="Objectives card"/>
          <p:cNvSpPr/>
          <p:nvPr/>
        </p:nvSpPr>
        <p:spPr>
          <a:xfrm>
            <a:off x="6245352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11112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611112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Remove slot conflicts with live allocation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Stop revenue leakage with tariff-based billing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Design a normalized schema up to 3NF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Enforce business rules with database constraints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Deliver a small Java or Python front end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Who uses the system</a:t>
            </a:r>
            <a:endParaRPr lang="en-US" sz="3400" dirty="0"/>
          </a:p>
        </p:txBody>
      </p:sp>
      <p:sp>
        <p:nvSpPr>
          <p:cNvPr id="3" name="Role card 1"/>
          <p:cNvSpPr/>
          <p:nvPr/>
        </p:nvSpPr>
        <p:spPr>
          <a:xfrm>
            <a:off x="640080" y="155448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Role icon circle 1"/>
          <p:cNvSpPr/>
          <p:nvPr/>
        </p:nvSpPr>
        <p:spPr>
          <a:xfrm>
            <a:off x="960120" y="18288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Custom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07568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47472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Searches free slots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Makes and cancels reservations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Buys and renews passes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Pays the bill</a:t>
            </a:r>
            <a:endParaRPr lang="en-US" sz="1600" dirty="0"/>
          </a:p>
        </p:txBody>
      </p:sp>
      <p:sp>
        <p:nvSpPr>
          <p:cNvPr id="8" name="Role card 2"/>
          <p:cNvSpPr/>
          <p:nvPr/>
        </p:nvSpPr>
        <p:spPr>
          <a:xfrm>
            <a:off x="4389120" y="155448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Role icon circle 2"/>
          <p:cNvSpPr/>
          <p:nvPr/>
        </p:nvSpPr>
        <p:spPr>
          <a:xfrm>
            <a:off x="4709160" y="18288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Gate operato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07568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operator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347472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Records vehicle entry and exit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Allocates a slot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Checks reservation or pass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Collects payment</a:t>
            </a:r>
            <a:endParaRPr lang="en-US" sz="1600" dirty="0"/>
          </a:p>
        </p:txBody>
      </p:sp>
      <p:sp>
        <p:nvSpPr>
          <p:cNvPr id="13" name="Role card 3"/>
          <p:cNvSpPr/>
          <p:nvPr/>
        </p:nvSpPr>
        <p:spPr>
          <a:xfrm>
            <a:off x="8138160" y="155448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Role icon circle 3"/>
          <p:cNvSpPr/>
          <p:nvPr/>
        </p:nvSpPr>
        <p:spPr>
          <a:xfrm>
            <a:off x="8458200" y="18288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Administrato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207568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47472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Manages facilities, floors, zones, slots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Sets tariffs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Views occupancy and revenue reports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Reviews violations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Functional requirements</a:t>
            </a:r>
            <a:endParaRPr lang="en-US" sz="3400" dirty="0"/>
          </a:p>
        </p:txBody>
      </p:sp>
      <p:sp>
        <p:nvSpPr>
          <p:cNvPr id="3" name="Requirement card 1"/>
          <p:cNvSpPr/>
          <p:nvPr/>
        </p:nvSpPr>
        <p:spPr>
          <a:xfrm>
            <a:off x="64008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Req icon circle 1"/>
          <p:cNvSpPr/>
          <p:nvPr/>
        </p:nvSpPr>
        <p:spPr>
          <a:xfrm>
            <a:off x="914400" y="18288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Slot sear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28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 search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Find free slots by facility, floor, zone and vehicle type</a:t>
            </a:r>
            <a:endParaRPr lang="en-US" sz="1400" dirty="0"/>
          </a:p>
        </p:txBody>
      </p:sp>
      <p:sp>
        <p:nvSpPr>
          <p:cNvPr id="8" name="Requirement card 2"/>
          <p:cNvSpPr/>
          <p:nvPr/>
        </p:nvSpPr>
        <p:spPr>
          <a:xfrm>
            <a:off x="438912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Req icon circle 2"/>
          <p:cNvSpPr/>
          <p:nvPr/>
        </p:nvSpPr>
        <p:spPr>
          <a:xfrm>
            <a:off x="4663440" y="18288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Reservati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0116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828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Book a slot for a time window; unused bookings expire</a:t>
            </a:r>
            <a:endParaRPr lang="en-US" sz="1400" dirty="0"/>
          </a:p>
        </p:txBody>
      </p:sp>
      <p:sp>
        <p:nvSpPr>
          <p:cNvPr id="13" name="Requirement card 3"/>
          <p:cNvSpPr/>
          <p:nvPr/>
        </p:nvSpPr>
        <p:spPr>
          <a:xfrm>
            <a:off x="8138160" y="15544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Req icon circle 3"/>
          <p:cNvSpPr/>
          <p:nvPr/>
        </p:nvSpPr>
        <p:spPr>
          <a:xfrm>
            <a:off x="8412480" y="18288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Gate entry / exi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0116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81160" y="1828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entry / exit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Record entry and exit times and allocate a matching slot</a:t>
            </a:r>
            <a:endParaRPr lang="en-US" sz="1400" dirty="0"/>
          </a:p>
        </p:txBody>
      </p:sp>
      <p:sp>
        <p:nvSpPr>
          <p:cNvPr id="18" name="Requirement card 4"/>
          <p:cNvSpPr/>
          <p:nvPr/>
        </p:nvSpPr>
        <p:spPr>
          <a:xfrm>
            <a:off x="640080" y="38862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Req icon circle 4"/>
          <p:cNvSpPr/>
          <p:nvPr/>
        </p:nvSpPr>
        <p:spPr>
          <a:xfrm>
            <a:off x="914400" y="41605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3" descr="Duration billing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3434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83080" y="4160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 billing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Bill automatically from stay length and tariff</a:t>
            </a:r>
            <a:endParaRPr lang="en-US" sz="1400" dirty="0"/>
          </a:p>
        </p:txBody>
      </p:sp>
      <p:sp>
        <p:nvSpPr>
          <p:cNvPr id="23" name="Requirement card 5"/>
          <p:cNvSpPr/>
          <p:nvPr/>
        </p:nvSpPr>
        <p:spPr>
          <a:xfrm>
            <a:off x="4389120" y="38862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Req icon circle 5"/>
          <p:cNvSpPr/>
          <p:nvPr/>
        </p:nvSpPr>
        <p:spPr>
          <a:xfrm>
            <a:off x="4663440" y="41605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Image 4" descr="Pass managemen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434340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532120" y="4160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management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4663440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Issue, validate and renew passes</a:t>
            </a:r>
            <a:endParaRPr lang="en-US" sz="1400" dirty="0"/>
          </a:p>
        </p:txBody>
      </p:sp>
      <p:sp>
        <p:nvSpPr>
          <p:cNvPr id="28" name="Requirement card 6"/>
          <p:cNvSpPr/>
          <p:nvPr/>
        </p:nvSpPr>
        <p:spPr>
          <a:xfrm>
            <a:off x="8138160" y="38862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Req icon circle 6"/>
          <p:cNvSpPr/>
          <p:nvPr/>
        </p:nvSpPr>
        <p:spPr>
          <a:xfrm>
            <a:off x="8412480" y="41605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Image 5" descr="Payment and reports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434340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81160" y="41605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and reports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5029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Take payments; report occupancy, peak hours, violations, revenue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Business rules the database must enforce</a:t>
            </a:r>
            <a:endParaRPr lang="en-US" sz="3400" dirty="0"/>
          </a:p>
        </p:txBody>
      </p:sp>
      <p:sp>
        <p:nvSpPr>
          <p:cNvPr id="3" name="Rule row 1"/>
          <p:cNvSpPr/>
          <p:nvPr/>
        </p:nvSpPr>
        <p:spPr>
          <a:xfrm>
            <a:off x="640080" y="1508760"/>
            <a:ext cx="108813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4" name="Rule number circle 1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508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active vehicle per slot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5087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A slot cannot hold two vehicles that have not exited.</a:t>
            </a:r>
            <a:endParaRPr lang="en-US" sz="1500" dirty="0"/>
          </a:p>
        </p:txBody>
      </p:sp>
      <p:sp>
        <p:nvSpPr>
          <p:cNvPr id="8" name="Rule row 2"/>
          <p:cNvSpPr/>
          <p:nvPr/>
        </p:nvSpPr>
        <p:spPr>
          <a:xfrm>
            <a:off x="640080" y="2423160"/>
            <a:ext cx="108813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9" name="Rule number circle 2"/>
          <p:cNvSpPr/>
          <p:nvPr/>
        </p:nvSpPr>
        <p:spPr>
          <a:xfrm>
            <a:off x="868680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4231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 and vehicle type match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4231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A bike cannot be allotted a truck bay, and the reverse.</a:t>
            </a:r>
            <a:endParaRPr lang="en-US" sz="1500" dirty="0"/>
          </a:p>
        </p:txBody>
      </p:sp>
      <p:sp>
        <p:nvSpPr>
          <p:cNvPr id="13" name="Rule row 3"/>
          <p:cNvSpPr/>
          <p:nvPr/>
        </p:nvSpPr>
        <p:spPr>
          <a:xfrm>
            <a:off x="640080" y="3337560"/>
            <a:ext cx="108813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4" name="Rule number circle 3"/>
          <p:cNvSpPr/>
          <p:nvPr/>
        </p:nvSpPr>
        <p:spPr>
          <a:xfrm>
            <a:off x="868680" y="34747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3375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only after entry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3375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Exit time must be later than entry time.</a:t>
            </a:r>
            <a:endParaRPr lang="en-US" sz="1500" dirty="0"/>
          </a:p>
        </p:txBody>
      </p:sp>
      <p:sp>
        <p:nvSpPr>
          <p:cNvPr id="18" name="Rule row 4"/>
          <p:cNvSpPr/>
          <p:nvPr/>
        </p:nvSpPr>
        <p:spPr>
          <a:xfrm>
            <a:off x="640080" y="4251960"/>
            <a:ext cx="108813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9" name="Rule number circle 4"/>
          <p:cNvSpPr/>
          <p:nvPr/>
        </p:nvSpPr>
        <p:spPr>
          <a:xfrm>
            <a:off x="868680" y="4389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42519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 expiry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42519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A reservation past its expiry time cannot be used.</a:t>
            </a:r>
            <a:endParaRPr lang="en-US" sz="1500" dirty="0"/>
          </a:p>
        </p:txBody>
      </p:sp>
      <p:sp>
        <p:nvSpPr>
          <p:cNvPr id="23" name="Rule row 5"/>
          <p:cNvSpPr/>
          <p:nvPr/>
        </p:nvSpPr>
        <p:spPr>
          <a:xfrm>
            <a:off x="640080" y="5166360"/>
            <a:ext cx="108813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4" name="Rule number circle 5"/>
          <p:cNvSpPr/>
          <p:nvPr/>
        </p:nvSpPr>
        <p:spPr>
          <a:xfrm>
            <a:off x="868680" y="5303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645920" y="51663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Tariff-based charges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51663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</a:rPr>
              <a:t>Bill amount comes from duration and the tariff rate.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ER diagram: 13 entities</a:t>
            </a:r>
            <a:endParaRPr lang="en-US" sz="3400" dirty="0"/>
          </a:p>
        </p:txBody>
      </p:sp>
      <p:pic>
        <p:nvPicPr>
          <p:cNvPr id="3" name="Image 0" descr="Entity relationship diagram of the smart parking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10881360" cy="35548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155059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Crow's foot notation: three prongs = many, bar = exactly one, circle = optional. PK = primary key, FK = foreign key.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ER detail 1: structure, people and pricing</a:t>
            </a:r>
            <a:endParaRPr lang="en-US" sz="3400" dirty="0"/>
          </a:p>
        </p:txBody>
      </p:sp>
      <p:pic>
        <p:nvPicPr>
          <p:cNvPr id="3" name="Image 0" descr="Left half of the ER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235" y="1371600"/>
            <a:ext cx="8306483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ER detail 2: reservations, sessions and billing</a:t>
            </a:r>
            <a:endParaRPr lang="en-US" sz="3400" dirty="0"/>
          </a:p>
        </p:txBody>
      </p:sp>
      <p:pic>
        <p:nvPicPr>
          <p:cNvPr id="3" name="Image 0" descr="Right half of the ER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080" y="1371600"/>
            <a:ext cx="8902792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Key relationships and cardinalities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60857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Relationship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Cardinality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Facility - Floor - Zone - Slot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1 : N at each step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A facility has floors, floors have zones, zones have slots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Vehicle type - Slot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1 : 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Each slot is built for one vehicle type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Customer - Vehicle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1 : 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A customer can own several vehicles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Customer, Vehicle, Slot - Reservation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1 : N each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A reservation links who, which vehicle and which slot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Vehicle, Slot - Parking session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1 : N each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Every stay records one vehicle in one slot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Reservation, Pass - Parking session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1 : 0..1 / 1 : 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A session may come from a reservation or a pass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Parking session - Bill - Payment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1 : 0..1, 1 : 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One bill per session, paid in one or more payments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Facility, Vehicle type - Tariff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1 : N each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Rates depend on facility and vehicle type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Initial schema 1: facility and master data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53542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Primary key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Foreign keys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Other key columns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FACILITY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facility_id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name, address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FLOOR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floor_id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facility_id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floor_no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ZONE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zone_id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floor_id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zone_name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VEHICLE_TYPE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type_id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type_name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SLOT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slot_id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zone_id, type_id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slot_no, status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CUSTOMER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customer_id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name, phone, email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TARIFF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tariff_id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facility_id, type_id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rate_per_hour, daily_cap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Initial schema 2: transactions and billing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38404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Primary key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Foreign keys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Other key columns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VEHICLE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vehicle_id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customer_id, type_id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reg_number (unique)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RESERVATION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reservation_id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customer_id, vehicle_id, slot_id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start_time, expiry_time, status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pass_id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customer_id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pass_type, valid_from, valid_to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PARKING_SESSION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session_id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vehicle_id, slot_id, reservation_id, pass_id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entry_time, exit_time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BILL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bill_id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session_id, tariff_id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amount, bill_status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PAYMENT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payment_id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bill_id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amount_paid, method, paid_at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Reservation and pass links in PARKING_SESSION are optional, so walk-in visitors work without either.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Tools and plan for Reviews 2 and 3</a:t>
            </a:r>
            <a:endParaRPr lang="en-US" sz="3400" dirty="0"/>
          </a:p>
        </p:txBody>
      </p:sp>
      <p:sp>
        <p:nvSpPr>
          <p:cNvPr id="3" name="Tools card"/>
          <p:cNvSpPr/>
          <p:nvPr/>
        </p:nvSpPr>
        <p:spPr>
          <a:xfrm>
            <a:off x="640080" y="155448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tools</a:t>
            </a:r>
            <a:endParaRPr lang="en-US" sz="2200" dirty="0"/>
          </a:p>
        </p:txBody>
      </p:sp>
      <p:pic>
        <p:nvPicPr>
          <p:cNvPr id="5" name="Image 0" descr="Databas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23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MySQL or PostgreSQL</a:t>
            </a:r>
            <a:endParaRPr lang="en-US" sz="1600" dirty="0"/>
          </a:p>
        </p:txBody>
      </p:sp>
      <p:pic>
        <p:nvPicPr>
          <p:cNvPr id="7" name="Image 1" descr="Pyth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1089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Python or Java front end</a:t>
            </a:r>
            <a:endParaRPr lang="en-US" sz="1600" dirty="0"/>
          </a:p>
        </p:txBody>
      </p:sp>
      <p:pic>
        <p:nvPicPr>
          <p:cNvPr id="9" name="Image 2" descr="Lay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79476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3703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Indexes on frequently searched columns</a:t>
            </a:r>
            <a:endParaRPr lang="en-US" sz="1600" dirty="0"/>
          </a:p>
        </p:txBody>
      </p:sp>
      <p:sp>
        <p:nvSpPr>
          <p:cNvPr id="11" name="Review card 2"/>
          <p:cNvSpPr/>
          <p:nvPr/>
        </p:nvSpPr>
        <p:spPr>
          <a:xfrm>
            <a:off x="4526280" y="1554480"/>
            <a:ext cx="6995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4846320" y="1783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2 | Week 11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4846320" y="2331720"/>
            <a:ext cx="6355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Normalize to 3NF with functional dependencies and data dictionary; DDL with constraints; sample data; queries and views; prototype demo.</a:t>
            </a:r>
            <a:endParaRPr lang="en-US" sz="1600" dirty="0"/>
          </a:p>
        </p:txBody>
      </p:sp>
      <p:sp>
        <p:nvSpPr>
          <p:cNvPr id="14" name="Review card 3"/>
          <p:cNvSpPr/>
          <p:nvPr/>
        </p:nvSpPr>
        <p:spPr>
          <a:xfrm>
            <a:off x="4526280" y="3886200"/>
            <a:ext cx="6995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4846320" y="4114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3 | Week 16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4846320" y="4663440"/>
            <a:ext cx="6355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Front-end application; CRUD, search, validation, reports and error handling; final demo, report and viva.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Parking">
  <a:themeElements>
    <a:clrScheme name="Smart Parking">
      <a:dk1>
        <a:srgbClr val="111827"/>
      </a:dk1>
      <a:lt1>
        <a:srgbClr val="FFFFFF"/>
      </a:lt1>
      <a:dk2>
        <a:srgbClr val="1F2937"/>
      </a:dk2>
      <a:lt2>
        <a:srgbClr val="F3F4F6"/>
      </a:lt2>
      <a:accent1>
        <a:srgbClr val="F5B301"/>
      </a:accent1>
      <a:accent2>
        <a:srgbClr val="0F766E"/>
      </a:accent2>
      <a:accent3>
        <a:srgbClr val="B45309"/>
      </a:accent3>
      <a:accent4>
        <a:srgbClr val="6B7280"/>
      </a:accent4>
      <a:accent5>
        <a:srgbClr val="374151"/>
      </a:accent5>
      <a:accent6>
        <a:srgbClr val="D1D5DB"/>
      </a:accent6>
      <a:hlink>
        <a:srgbClr val="0F766E"/>
      </a:hlink>
      <a:folHlink>
        <a:srgbClr val="6B7280"/>
      </a:folHlink>
    </a:clrScheme>
    <a:fontScheme name="Smart Park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1035</Words>
  <Application>Microsoft Office PowerPoint</Application>
  <PresentationFormat>Widescreen</PresentationFormat>
  <Paragraphs>202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Smart Parking</vt:lpstr>
      <vt:lpstr>Design and Implementation of a Database Management System for Smart Parking Lot Allocation and Billing System</vt:lpstr>
      <vt:lpstr>The problem: manual tickets cause chaos</vt:lpstr>
      <vt:lpstr>Scope and objectives</vt:lpstr>
      <vt:lpstr>Who uses the system</vt:lpstr>
      <vt:lpstr>Functional requirements</vt:lpstr>
      <vt:lpstr>Business rules the database must enforce</vt:lpstr>
      <vt:lpstr>ER diagram: 13 entities</vt:lpstr>
      <vt:lpstr>ER detail 1: structure, people and pricing</vt:lpstr>
      <vt:lpstr>ER detail 2: reservations, sessions and billing</vt:lpstr>
      <vt:lpstr>Key relationships and cardinalities</vt:lpstr>
      <vt:lpstr>Initial schema 1: facility and master data</vt:lpstr>
      <vt:lpstr>Initial schema 2: transactions and billing</vt:lpstr>
      <vt:lpstr>Tools and plan for Reviews 2 and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DBMS - Review 1</dc:title>
  <dc:subject>PptxGenJS Presentation</dc:subject>
  <dc:creator>PptxGenJS</dc:creator>
  <cp:lastModifiedBy>Snigdha Choudary Devalla</cp:lastModifiedBy>
  <cp:revision>2</cp:revision>
  <dcterms:created xsi:type="dcterms:W3CDTF">2026-10-10T15:05:07Z</dcterms:created>
  <dcterms:modified xsi:type="dcterms:W3CDTF">2026-10-14T16:14:30Z</dcterms:modified>
</cp:coreProperties>
</file>