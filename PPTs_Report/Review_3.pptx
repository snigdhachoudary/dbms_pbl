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313A4A4A-4B55-771C-0C2C-177B2B74B68B}">
          <p14:sldIdLst>
            <p14:sldId id="256"/>
          </p14:sldIdLst>
        </p14:section>
        <p14:section name="Overview" id="{C65E1142-8B1D-A6D5-30A0-B6FBE66D8FCE}">
          <p14:sldIdLst>
            <p14:sldId id="257"/>
          </p14:sldIdLst>
        </p14:section>
        <p14:section name="Design" id="{38F22CBA-94F0-6D79-EE68-9B67C27C30DF}">
          <p14:sldIdLst>
            <p14:sldId id="258"/>
            <p14:sldId id="259"/>
          </p14:sldIdLst>
        </p14:section>
        <p14:section name="Demonstration" id="{A2C4C1CF-D659-60D3-3AF2-3B835F82081C}">
          <p14:sldIdLst>
            <p14:sldId id="260"/>
            <p14:sldId id="261"/>
            <p14:sldId id="262"/>
            <p14:sldId id="263"/>
            <p14:sldId id="264"/>
          </p14:sldIdLst>
        </p14:section>
        <p14:section name="Quality" id="{01B80F21-C20D-006C-DCA2-E1D096552D6C}">
          <p14:sldIdLst>
            <p14:sldId id="265"/>
            <p14:sldId id="266"/>
            <p14:sldId id="267"/>
            <p14:sldId id="268"/>
          </p14:sldIdLst>
        </p14:section>
        <p14:section name="Reliability" id="{3A077909-0C92-3189-689A-632FC889C0EB}">
          <p14:sldIdLst>
            <p14:sldId id="269"/>
            <p14:sldId id="270"/>
          </p14:sldIdLst>
        </p14:section>
        <p14:section name="Closing" id="{484A74F4-4EC1-022F-4008-8E9DCF5AAD76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2761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749808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3" name="Text 0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Smart Parking Lot Allocation and Billing  |  Review 3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7498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bg1"/>
                </a:solidFill>
              </a:rPr>
              <a:t>Design and Implementation of a Database Management System for Smart Parking Lot Allocation and Billing System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chemeClr val="accent1"/>
                </a:solidFill>
              </a:rPr>
              <a:t>REVIEW 3 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206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6"/>
                </a:solidFill>
              </a:rPr>
              <a:t>Python application on MySQL: CRUD, search, validation, reports and error handling</a:t>
            </a:r>
            <a:endParaRPr lang="en-US" sz="1800" dirty="0"/>
          </a:p>
        </p:txBody>
      </p:sp>
      <p:sp>
        <p:nvSpPr>
          <p:cNvPr id="6" name="Motif circle"/>
          <p:cNvSpPr/>
          <p:nvPr/>
        </p:nvSpPr>
        <p:spPr>
          <a:xfrm>
            <a:off x="8778240" y="1463040"/>
            <a:ext cx="2926080" cy="292608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7" name="Parking sign"/>
          <p:cNvSpPr/>
          <p:nvPr/>
        </p:nvSpPr>
        <p:spPr>
          <a:xfrm>
            <a:off x="9144000" y="1828800"/>
            <a:ext cx="2194560" cy="2194560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0" y="182880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From design to a working system</a:t>
            </a:r>
            <a:endParaRPr lang="en-US" sz="3400" dirty="0"/>
          </a:p>
        </p:txBody>
      </p:sp>
      <p:sp>
        <p:nvSpPr>
          <p:cNvPr id="3" name="Journey card 1"/>
          <p:cNvSpPr/>
          <p:nvPr/>
        </p:nvSpPr>
        <p:spPr>
          <a:xfrm>
            <a:off x="640080" y="1645920"/>
            <a:ext cx="3474720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8745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2"/>
                </a:solidFill>
              </a:rPr>
              <a:t>WEEK 7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2402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1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01752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Problem, requirements, ER diagram, initial schema</a:t>
            </a:r>
            <a:endParaRPr lang="en-US" sz="1600" dirty="0"/>
          </a:p>
        </p:txBody>
      </p:sp>
      <p:sp>
        <p:nvSpPr>
          <p:cNvPr id="7" name="Journey card 2"/>
          <p:cNvSpPr/>
          <p:nvPr/>
        </p:nvSpPr>
        <p:spPr>
          <a:xfrm>
            <a:off x="4389120" y="1645920"/>
            <a:ext cx="3474720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663440" y="18745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2"/>
                </a:solidFill>
              </a:rPr>
              <a:t>WEEK 11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22402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2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301752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3NF design, DDL with rules, sample data, reports</a:t>
            </a:r>
            <a:endParaRPr lang="en-US" sz="1600" dirty="0"/>
          </a:p>
        </p:txBody>
      </p:sp>
      <p:sp>
        <p:nvSpPr>
          <p:cNvPr id="11" name="Journey card 3"/>
          <p:cNvSpPr/>
          <p:nvPr/>
        </p:nvSpPr>
        <p:spPr>
          <a:xfrm>
            <a:off x="8138160" y="1645920"/>
            <a:ext cx="3474720" cy="3200400"/>
          </a:xfrm>
          <a:prstGeom prst="roundRect">
            <a:avLst>
              <a:gd name="adj" fmla="val 3429"/>
            </a:avLst>
          </a:prstGeom>
          <a:solidFill>
            <a:schemeClr val="tx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412480" y="18745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1"/>
                </a:solidFill>
              </a:rPr>
              <a:t>WEEK 16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412480" y="22402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3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301752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Python application, full demo, tests, report</a:t>
            </a:r>
            <a:endParaRPr lang="en-US" sz="1600" dirty="0"/>
          </a:p>
        </p:txBody>
      </p:sp>
      <p:sp>
        <p:nvSpPr>
          <p:cNvPr id="15" name="Summary banner"/>
          <p:cNvSpPr/>
          <p:nvPr/>
        </p:nvSpPr>
        <p:spPr>
          <a:xfrm>
            <a:off x="640080" y="5166360"/>
            <a:ext cx="1088136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516636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Outcome: </a:t>
            </a:r>
            <a:r>
              <a:rPr lang="en-US" sz="1700" dirty="0">
                <a:solidFill>
                  <a:schemeClr val="tx2"/>
                </a:solidFill>
              </a:rPr>
              <a:t>13 tables, 8 triggers, 5 procedures, a 10-page Python application with zoom, 23 automated tests, all on MySQL 8.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Architecture: three layers</a:t>
            </a:r>
            <a:endParaRPr lang="en-US" sz="3400" dirty="0"/>
          </a:p>
        </p:txBody>
      </p:sp>
      <p:sp>
        <p:nvSpPr>
          <p:cNvPr id="3" name="Layer 1"/>
          <p:cNvSpPr/>
          <p:nvPr/>
        </p:nvSpPr>
        <p:spPr>
          <a:xfrm>
            <a:off x="640080" y="1554480"/>
            <a:ext cx="1088136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55448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2834640" y="17373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gui.py, widgets.py, theme.py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554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accent5"/>
                </a:solidFill>
              </a:rPr>
              <a:t>10 pages in one design system: navy header, teal actions, themed tables, zoom 80% to 200%</a:t>
            </a:r>
            <a:endParaRPr lang="en-US" sz="1500" dirty="0"/>
          </a:p>
        </p:txBody>
      </p:sp>
      <p:sp>
        <p:nvSpPr>
          <p:cNvPr id="7" name="Layer 2"/>
          <p:cNvSpPr/>
          <p:nvPr/>
        </p:nvSpPr>
        <p:spPr>
          <a:xfrm>
            <a:off x="640080" y="3108960"/>
            <a:ext cx="1088136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310896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2834640" y="32918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services.py, validators.py, errors.py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126480" y="310896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accent5"/>
                </a:solidFill>
              </a:rPr>
              <a:t>Checks input, runs operations, turns database errors into plain sentences</a:t>
            </a:r>
            <a:endParaRPr lang="en-US" sz="1500" dirty="0"/>
          </a:p>
        </p:txBody>
      </p:sp>
      <p:sp>
        <p:nvSpPr>
          <p:cNvPr id="11" name="Layer 3"/>
          <p:cNvSpPr/>
          <p:nvPr/>
        </p:nvSpPr>
        <p:spPr>
          <a:xfrm>
            <a:off x="640080" y="4663440"/>
            <a:ext cx="10881360" cy="1280160"/>
          </a:xfrm>
          <a:prstGeom prst="roundRect">
            <a:avLst>
              <a:gd name="adj" fmla="val 8571"/>
            </a:avLst>
          </a:prstGeom>
          <a:solidFill>
            <a:schemeClr val="tx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466344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2834640" y="48463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MySQL 8.0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466344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13 tables, CHECK and UNIQUE rules, triggers, functions, procedures, views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60807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Every query uses placeholders, so user input never becomes part of the SQL text (no SQL injection).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A consistent design system</a:t>
            </a:r>
            <a:endParaRPr lang="en-US" sz="3400" dirty="0"/>
          </a:p>
        </p:txBody>
      </p:sp>
      <p:sp>
        <p:nvSpPr>
          <p:cNvPr id="3" name="Swatch Navy"/>
          <p:cNvSpPr/>
          <p:nvPr/>
        </p:nvSpPr>
        <p:spPr>
          <a:xfrm>
            <a:off x="640080" y="1463040"/>
            <a:ext cx="1417320" cy="1005840"/>
          </a:xfrm>
          <a:prstGeom prst="roundRect">
            <a:avLst>
              <a:gd name="adj" fmla="val 9091"/>
            </a:avLst>
          </a:prstGeom>
          <a:solidFill>
            <a:srgbClr val="17263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25603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Navy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88036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Header, table headings</a:t>
            </a:r>
            <a:endParaRPr lang="en-US" sz="1200" dirty="0"/>
          </a:p>
        </p:txBody>
      </p:sp>
      <p:sp>
        <p:nvSpPr>
          <p:cNvPr id="6" name="Swatch Teal"/>
          <p:cNvSpPr/>
          <p:nvPr/>
        </p:nvSpPr>
        <p:spPr>
          <a:xfrm>
            <a:off x="2194560" y="1463040"/>
            <a:ext cx="1417320" cy="1005840"/>
          </a:xfrm>
          <a:prstGeom prst="roundRect">
            <a:avLst>
              <a:gd name="adj" fmla="val 9091"/>
            </a:avLst>
          </a:prstGeom>
          <a:solidFill>
            <a:srgbClr val="117C78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194560" y="25603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Teal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194560" y="288036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Main actions, selected tab</a:t>
            </a:r>
            <a:endParaRPr lang="en-US" sz="1200" dirty="0"/>
          </a:p>
        </p:txBody>
      </p:sp>
      <p:sp>
        <p:nvSpPr>
          <p:cNvPr id="9" name="Swatch Workspace"/>
          <p:cNvSpPr/>
          <p:nvPr/>
        </p:nvSpPr>
        <p:spPr>
          <a:xfrm>
            <a:off x="3749040" y="1463040"/>
            <a:ext cx="1417320" cy="1005840"/>
          </a:xfrm>
          <a:prstGeom prst="roundRect">
            <a:avLst>
              <a:gd name="adj" fmla="val 9091"/>
            </a:avLst>
          </a:prstGeom>
          <a:solidFill>
            <a:srgbClr val="F3F6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49040" y="25603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Workspace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749040" y="288036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Page background</a:t>
            </a:r>
            <a:endParaRPr lang="en-US" sz="1200" dirty="0"/>
          </a:p>
        </p:txBody>
      </p:sp>
      <p:sp>
        <p:nvSpPr>
          <p:cNvPr id="12" name="Swatch Yellow"/>
          <p:cNvSpPr/>
          <p:nvPr/>
        </p:nvSpPr>
        <p:spPr>
          <a:xfrm>
            <a:off x="5303520" y="1463040"/>
            <a:ext cx="1417320" cy="1005840"/>
          </a:xfrm>
          <a:prstGeom prst="roundRect">
            <a:avLst>
              <a:gd name="adj" fmla="val 9091"/>
            </a:avLst>
          </a:prstGeom>
          <a:solidFill>
            <a:srgbClr val="F2B70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03520" y="25603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Yellow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303520" y="288036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Small highlights</a:t>
            </a:r>
            <a:endParaRPr lang="en-US" sz="1200" dirty="0"/>
          </a:p>
        </p:txBody>
      </p:sp>
      <p:sp>
        <p:nvSpPr>
          <p:cNvPr id="15" name="Swatch Success"/>
          <p:cNvSpPr/>
          <p:nvPr/>
        </p:nvSpPr>
        <p:spPr>
          <a:xfrm>
            <a:off x="6858000" y="1463040"/>
            <a:ext cx="1417320" cy="1005840"/>
          </a:xfrm>
          <a:prstGeom prst="roundRect">
            <a:avLst>
              <a:gd name="adj" fmla="val 9091"/>
            </a:avLst>
          </a:prstGeom>
          <a:solidFill>
            <a:srgbClr val="198754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0" y="25603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Success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0" y="288036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Paid, active</a:t>
            </a:r>
            <a:endParaRPr lang="en-US" sz="1200" dirty="0"/>
          </a:p>
        </p:txBody>
      </p:sp>
      <p:sp>
        <p:nvSpPr>
          <p:cNvPr id="18" name="Swatch Warning"/>
          <p:cNvSpPr/>
          <p:nvPr/>
        </p:nvSpPr>
        <p:spPr>
          <a:xfrm>
            <a:off x="8412480" y="1463040"/>
            <a:ext cx="1417320" cy="1005840"/>
          </a:xfrm>
          <a:prstGeom prst="roundRect">
            <a:avLst>
              <a:gd name="adj" fmla="val 9091"/>
            </a:avLst>
          </a:prstGeom>
          <a:solidFill>
            <a:srgbClr val="D9770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12480" y="25603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Warning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0" y="288036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Partial, maintenance</a:t>
            </a:r>
            <a:endParaRPr lang="en-US" sz="1200" dirty="0"/>
          </a:p>
        </p:txBody>
      </p:sp>
      <p:sp>
        <p:nvSpPr>
          <p:cNvPr id="21" name="Swatch Error"/>
          <p:cNvSpPr/>
          <p:nvPr/>
        </p:nvSpPr>
        <p:spPr>
          <a:xfrm>
            <a:off x="9966960" y="1463040"/>
            <a:ext cx="1417320" cy="1005840"/>
          </a:xfrm>
          <a:prstGeom prst="roundRect">
            <a:avLst>
              <a:gd name="adj" fmla="val 9091"/>
            </a:avLst>
          </a:prstGeom>
          <a:solidFill>
            <a:srgbClr val="DC354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966960" y="25603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Error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966960" y="288036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Unpaid, delete</a:t>
            </a:r>
            <a:endParaRPr lang="en-US" sz="1200" dirty="0"/>
          </a:p>
        </p:txBody>
      </p:sp>
      <p:sp>
        <p:nvSpPr>
          <p:cNvPr id="24" name="File row 1"/>
          <p:cNvSpPr/>
          <p:nvPr/>
        </p:nvSpPr>
        <p:spPr>
          <a:xfrm>
            <a:off x="640080" y="3840480"/>
            <a:ext cx="1088136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14400" y="38404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theme.py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3291840" y="3840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Colours, fonts, spacing, zoom scale, table and input styles in one file</a:t>
            </a:r>
            <a:endParaRPr lang="en-US" sz="1500" dirty="0"/>
          </a:p>
        </p:txBody>
      </p:sp>
      <p:sp>
        <p:nvSpPr>
          <p:cNvPr id="27" name="File row 2"/>
          <p:cNvSpPr/>
          <p:nvPr/>
        </p:nvSpPr>
        <p:spPr>
          <a:xfrm>
            <a:off x="640080" y="4617720"/>
            <a:ext cx="1088136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14400" y="46177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widgets.py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3291840" y="46177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Buttons, panels, tables, cards, navigation, chart</a:t>
            </a:r>
            <a:endParaRPr lang="en-US" sz="1500" dirty="0"/>
          </a:p>
        </p:txBody>
      </p:sp>
      <p:sp>
        <p:nvSpPr>
          <p:cNvPr id="30" name="File row 3"/>
          <p:cNvSpPr/>
          <p:nvPr/>
        </p:nvSpPr>
        <p:spPr>
          <a:xfrm>
            <a:off x="640080" y="5394960"/>
            <a:ext cx="1088136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14400" y="53949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gui.py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3291840" y="53949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Page layouts and button actions; business logic unchanged</a:t>
            </a:r>
            <a:endParaRPr lang="en-US" sz="15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Dashboard</a:t>
            </a:r>
            <a:endParaRPr lang="en-US" sz="3400" dirty="0"/>
          </a:p>
        </p:txBody>
      </p:sp>
      <p:pic>
        <p:nvPicPr>
          <p:cNvPr id="3" name="Image 0" descr="Dashboard scree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71600"/>
            <a:ext cx="6990080" cy="3931920"/>
          </a:xfrm>
          <a:prstGeom prst="rect">
            <a:avLst/>
          </a:prstGeom>
        </p:spPr>
      </p:pic>
      <p:sp>
        <p:nvSpPr>
          <p:cNvPr id="4" name="Screenshot border"/>
          <p:cNvSpPr/>
          <p:nvPr/>
        </p:nvSpPr>
        <p:spPr>
          <a:xfrm>
            <a:off x="640080" y="1371600"/>
            <a:ext cx="6990080" cy="3931920"/>
          </a:xfrm>
          <a:prstGeom prst="rect">
            <a:avLst/>
          </a:prstGeom>
          <a:ln w="12700">
            <a:solidFill>
              <a:srgbClr val="D1D5D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863840" y="1554480"/>
            <a:ext cx="3657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Five summary cards: vehicles inside, free and occupied slots, unpaid amount and violations.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Occupancy by floor with progress bars, and the vehicles inside now with their duration.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The same layout adapts when the window is small or the zoom is large.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Clear text and zoom from 80% to 200%</a:t>
            </a:r>
            <a:endParaRPr lang="en-US" sz="3400" dirty="0"/>
          </a:p>
        </p:txBody>
      </p:sp>
      <p:pic>
        <p:nvPicPr>
          <p:cNvPr id="3" name="Image 0" descr="Dashboard at 150 percent zoo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71600"/>
            <a:ext cx="4876800" cy="2743200"/>
          </a:xfrm>
          <a:prstGeom prst="rect">
            <a:avLst/>
          </a:prstGeom>
        </p:spPr>
      </p:pic>
      <p:sp>
        <p:nvSpPr>
          <p:cNvPr id="4" name="Screenshot border"/>
          <p:cNvSpPr/>
          <p:nvPr/>
        </p:nvSpPr>
        <p:spPr>
          <a:xfrm>
            <a:off x="640080" y="1371600"/>
            <a:ext cx="4876800" cy="2743200"/>
          </a:xfrm>
          <a:prstGeom prst="rect">
            <a:avLst/>
          </a:prstGeom>
          <a:ln w="12700">
            <a:solidFill>
              <a:srgbClr val="D1D5DB"/>
            </a:solidFill>
            <a:prstDash val="solid"/>
          </a:ln>
        </p:spPr>
      </p:sp>
      <p:pic>
        <p:nvPicPr>
          <p:cNvPr id="5" name="Image 1" descr="Gate at 150 percent zoo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371600"/>
            <a:ext cx="4876800" cy="2743200"/>
          </a:xfrm>
          <a:prstGeom prst="rect">
            <a:avLst/>
          </a:prstGeom>
        </p:spPr>
      </p:pic>
      <p:sp>
        <p:nvSpPr>
          <p:cNvPr id="6" name="Screenshot border"/>
          <p:cNvSpPr/>
          <p:nvPr/>
        </p:nvSpPr>
        <p:spPr>
          <a:xfrm>
            <a:off x="6309360" y="1371600"/>
            <a:ext cx="4876800" cy="2743200"/>
          </a:xfrm>
          <a:prstGeom prst="rect">
            <a:avLst/>
          </a:prstGeom>
          <a:ln w="12700">
            <a:solidFill>
              <a:srgbClr val="D1D5DB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40080" y="42062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Both screens at 150% zoom</a:t>
            </a:r>
            <a:endParaRPr lang="en-US" sz="1400" dirty="0"/>
          </a:p>
        </p:txBody>
      </p:sp>
      <p:sp>
        <p:nvSpPr>
          <p:cNvPr id="8" name="Zoom point 1"/>
          <p:cNvSpPr/>
          <p:nvPr/>
        </p:nvSpPr>
        <p:spPr>
          <a:xfrm>
            <a:off x="640080" y="4663440"/>
            <a:ext cx="34747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68680" y="4754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Sharp on any screen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5166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High-DPI mode is switched on, so text is not blurred by Windows scaling</a:t>
            </a:r>
            <a:endParaRPr lang="en-US" sz="1200" dirty="0"/>
          </a:p>
        </p:txBody>
      </p:sp>
      <p:sp>
        <p:nvSpPr>
          <p:cNvPr id="11" name="Zoom point 2"/>
          <p:cNvSpPr/>
          <p:nvPr/>
        </p:nvSpPr>
        <p:spPr>
          <a:xfrm>
            <a:off x="4389120" y="4663440"/>
            <a:ext cx="34747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4617720" y="4754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to zoom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5166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A+ / A- buttons, Ctrl + and Ctrl -, or Ctrl with the mouse wheel; Ctrl 0 resets</a:t>
            </a:r>
            <a:endParaRPr lang="en-US" sz="1200" dirty="0"/>
          </a:p>
        </p:txBody>
      </p:sp>
      <p:sp>
        <p:nvSpPr>
          <p:cNvPr id="14" name="Zoom point 3"/>
          <p:cNvSpPr/>
          <p:nvPr/>
        </p:nvSpPr>
        <p:spPr>
          <a:xfrm>
            <a:off x="8138160" y="4663440"/>
            <a:ext cx="34747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8366760" y="4754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Remembered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8366760" y="5166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The chosen zoom is saved and used next time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Gate entry and automatic slot allocation</a:t>
            </a:r>
            <a:endParaRPr lang="en-US" sz="3400" dirty="0"/>
          </a:p>
        </p:txBody>
      </p:sp>
      <p:pic>
        <p:nvPicPr>
          <p:cNvPr id="3" name="Image 0" descr="Gate entry scree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71600"/>
            <a:ext cx="5364480" cy="3017520"/>
          </a:xfrm>
          <a:prstGeom prst="rect">
            <a:avLst/>
          </a:prstGeom>
        </p:spPr>
      </p:pic>
      <p:sp>
        <p:nvSpPr>
          <p:cNvPr id="4" name="Screenshot border"/>
          <p:cNvSpPr/>
          <p:nvPr/>
        </p:nvSpPr>
        <p:spPr>
          <a:xfrm>
            <a:off x="640080" y="1371600"/>
            <a:ext cx="5364480" cy="3017520"/>
          </a:xfrm>
          <a:prstGeom prst="rect">
            <a:avLst/>
          </a:prstGeom>
          <a:ln w="12700">
            <a:solidFill>
              <a:srgbClr val="D1D5DB"/>
            </a:solidFill>
            <a:prstDash val="solid"/>
          </a:ln>
        </p:spPr>
      </p:sp>
      <p:pic>
        <p:nvPicPr>
          <p:cNvPr id="5" name="Image 1" descr="Gate exit scree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371600"/>
            <a:ext cx="5364480" cy="3017520"/>
          </a:xfrm>
          <a:prstGeom prst="rect">
            <a:avLst/>
          </a:prstGeom>
        </p:spPr>
      </p:pic>
      <p:sp>
        <p:nvSpPr>
          <p:cNvPr id="6" name="Screenshot border"/>
          <p:cNvSpPr/>
          <p:nvPr/>
        </p:nvSpPr>
        <p:spPr>
          <a:xfrm>
            <a:off x="6309360" y="1371600"/>
            <a:ext cx="5364480" cy="3017520"/>
          </a:xfrm>
          <a:prstGeom prst="rect">
            <a:avLst/>
          </a:prstGeom>
          <a:ln w="12700">
            <a:solidFill>
              <a:srgbClr val="D1D5DB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40080" y="4572000"/>
            <a:ext cx="5303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5"/>
                </a:solidFill>
              </a:rPr>
              <a:t>Entry: car MH12AB3030 is given slot C01 on basement floor -1. The system chose a free slot of the right type.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6309360" y="4572000"/>
            <a:ext cx="5303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5"/>
                </a:solidFill>
              </a:rPr>
              <a:t>Exit: after a 200 minute stay the bill is Rs 120.00 (4 hours at Rs 30 per hour).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Duration billing and payment</a:t>
            </a:r>
            <a:endParaRPr lang="en-US" sz="3400" dirty="0"/>
          </a:p>
        </p:txBody>
      </p:sp>
      <p:pic>
        <p:nvPicPr>
          <p:cNvPr id="3" name="Image 0" descr="Billing scree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71600"/>
            <a:ext cx="6014720" cy="3383280"/>
          </a:xfrm>
          <a:prstGeom prst="rect">
            <a:avLst/>
          </a:prstGeom>
        </p:spPr>
      </p:pic>
      <p:sp>
        <p:nvSpPr>
          <p:cNvPr id="4" name="Screenshot border"/>
          <p:cNvSpPr/>
          <p:nvPr/>
        </p:nvSpPr>
        <p:spPr>
          <a:xfrm>
            <a:off x="640080" y="1371600"/>
            <a:ext cx="6014720" cy="3383280"/>
          </a:xfrm>
          <a:prstGeom prst="rect">
            <a:avLst/>
          </a:prstGeom>
          <a:ln w="12700">
            <a:solidFill>
              <a:srgbClr val="D1D5D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040880" y="14173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Round up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778240" y="14173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Time is charged in whole hours, minimum one hour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040880" y="23317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cap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778240" y="23317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Each full 24 hours costs the cap; the rest is hours x rate, up to the cap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040880" y="3246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 holder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778240" y="32461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Valid pass means Rs 0 for the stay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040880" y="41605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payments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778240" y="41605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Status moves UNPAID, PARTIAL, PAID; overpaying is refused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516636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Bill 64 after paying Rs 50 of Rs 120: status PARTIAL, balance Rs 70.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Reservations and passes</a:t>
            </a:r>
            <a:endParaRPr lang="en-US" sz="3400" dirty="0"/>
          </a:p>
        </p:txBody>
      </p:sp>
      <p:pic>
        <p:nvPicPr>
          <p:cNvPr id="3" name="Image 0" descr="Reservation scree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71600"/>
            <a:ext cx="5364480" cy="3017520"/>
          </a:xfrm>
          <a:prstGeom prst="rect">
            <a:avLst/>
          </a:prstGeom>
        </p:spPr>
      </p:pic>
      <p:sp>
        <p:nvSpPr>
          <p:cNvPr id="4" name="Screenshot border"/>
          <p:cNvSpPr/>
          <p:nvPr/>
        </p:nvSpPr>
        <p:spPr>
          <a:xfrm>
            <a:off x="640080" y="1371600"/>
            <a:ext cx="5364480" cy="3017520"/>
          </a:xfrm>
          <a:prstGeom prst="rect">
            <a:avLst/>
          </a:prstGeom>
          <a:ln w="12700">
            <a:solidFill>
              <a:srgbClr val="D1D5DB"/>
            </a:solidFill>
            <a:prstDash val="solid"/>
          </a:ln>
        </p:spPr>
      </p:sp>
      <p:pic>
        <p:nvPicPr>
          <p:cNvPr id="5" name="Image 1" descr="Passes scree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371600"/>
            <a:ext cx="5364480" cy="3017520"/>
          </a:xfrm>
          <a:prstGeom prst="rect">
            <a:avLst/>
          </a:prstGeom>
        </p:spPr>
      </p:pic>
      <p:sp>
        <p:nvSpPr>
          <p:cNvPr id="6" name="Screenshot border"/>
          <p:cNvSpPr/>
          <p:nvPr/>
        </p:nvSpPr>
        <p:spPr>
          <a:xfrm>
            <a:off x="6309360" y="1371600"/>
            <a:ext cx="5364480" cy="3017520"/>
          </a:xfrm>
          <a:prstGeom prst="rect">
            <a:avLst/>
          </a:prstGeom>
          <a:ln w="12700">
            <a:solidFill>
              <a:srgbClr val="D1D5DB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40080" y="4572000"/>
            <a:ext cx="5303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Reservation: enter vehicle and time window. The system finds a free slot of the right type; unused bookings expire; a booking can be cancelled.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6309360" y="4572000"/>
            <a:ext cx="5303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Passes: sell monthly, quarterly or annual passes, renew after expiry, delete if never used. A valid pass is applied at the gate automatically.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CRUD operations and search</a:t>
            </a:r>
            <a:endParaRPr lang="en-US" sz="3400" dirty="0"/>
          </a:p>
        </p:txBody>
      </p:sp>
      <p:pic>
        <p:nvPicPr>
          <p:cNvPr id="3" name="Image 0" descr="Customer scree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63040"/>
            <a:ext cx="5527040" cy="3108960"/>
          </a:xfrm>
          <a:prstGeom prst="rect">
            <a:avLst/>
          </a:prstGeom>
        </p:spPr>
      </p:pic>
      <p:sp>
        <p:nvSpPr>
          <p:cNvPr id="4" name="Screenshot border"/>
          <p:cNvSpPr/>
          <p:nvPr/>
        </p:nvSpPr>
        <p:spPr>
          <a:xfrm>
            <a:off x="640080" y="1463040"/>
            <a:ext cx="5527040" cy="3108960"/>
          </a:xfrm>
          <a:prstGeom prst="rect">
            <a:avLst/>
          </a:prstGeom>
          <a:ln w="12700">
            <a:solidFill>
              <a:srgbClr val="D1D5DB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417320"/>
          <a:ext cx="5120640" cy="32004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Record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Create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Read / search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Update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Delete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Customer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name, phone, email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Vehicle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registration, owner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Reservation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by status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cancel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cancel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Pass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list and usage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renew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Tariff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list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Slot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free / closed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open / close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Input validation in two layers</a:t>
            </a:r>
            <a:endParaRPr lang="en-US" sz="3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6949440" cy="402336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Field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Python checks before saving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</a:rPr>
                        <a:t>Registration number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TS09EA1234 format, spaces and hyphens removed, upper case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</a:rPr>
                        <a:t>Phone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10 digits starting 6 to 9, +91 accepted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</a:rPr>
                        <a:t>Email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Must contain @ and a domain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</a:rPr>
                        <a:t>Name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2 to 80 letters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</a:rPr>
                        <a:t>Amount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Number above 0, at most 100000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</a:rPr>
                        <a:t>Date and time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YYYY-MM-DD HH:MM; no past start, at most 24 h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</a:rPr>
                        <a:t>Payment method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CASH, CARD, UPI or WALLET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wo-layer card"/>
          <p:cNvSpPr/>
          <p:nvPr/>
        </p:nvSpPr>
        <p:spPr>
          <a:xfrm>
            <a:off x="7863840" y="1463040"/>
            <a:ext cx="3657600" cy="356616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138160" y="1645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two layers?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2194560"/>
            <a:ext cx="3108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Python gives a quick, friendly message. MySQL repeats the key checks with CHECK, UNIQUE and triggers, so bad data cannot get in from any other tool either.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Error handling: clear messages, no crashes</a:t>
            </a:r>
            <a:endParaRPr lang="en-US" sz="3400" dirty="0"/>
          </a:p>
        </p:txBody>
      </p:sp>
      <p:pic>
        <p:nvPicPr>
          <p:cNvPr id="3" name="Image 0" descr="Invalid phone number: nothing is sav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17320"/>
            <a:ext cx="6217920" cy="1062228"/>
          </a:xfrm>
          <a:prstGeom prst="rect">
            <a:avLst/>
          </a:prstGeom>
        </p:spPr>
      </p:pic>
      <p:sp>
        <p:nvSpPr>
          <p:cNvPr id="4" name="Error border"/>
          <p:cNvSpPr/>
          <p:nvPr/>
        </p:nvSpPr>
        <p:spPr>
          <a:xfrm>
            <a:off x="640080" y="1417320"/>
            <a:ext cx="6217920" cy="1062228"/>
          </a:xfrm>
          <a:prstGeom prst="rect">
            <a:avLst/>
          </a:prstGeom>
          <a:ln w="12700">
            <a:solidFill>
              <a:srgbClr val="D1D5D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132320" y="1417320"/>
            <a:ext cx="4389120" cy="1062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Invalid phone number: nothing is saved</a:t>
            </a:r>
            <a:endParaRPr lang="en-US" sz="1700" dirty="0"/>
          </a:p>
        </p:txBody>
      </p:sp>
      <p:pic>
        <p:nvPicPr>
          <p:cNvPr id="6" name="Image 1" descr="Customer still in use: delete refuse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834640"/>
            <a:ext cx="6217920" cy="1062228"/>
          </a:xfrm>
          <a:prstGeom prst="rect">
            <a:avLst/>
          </a:prstGeom>
        </p:spPr>
      </p:pic>
      <p:sp>
        <p:nvSpPr>
          <p:cNvPr id="7" name="Error border"/>
          <p:cNvSpPr/>
          <p:nvPr/>
        </p:nvSpPr>
        <p:spPr>
          <a:xfrm>
            <a:off x="640080" y="2834640"/>
            <a:ext cx="6217920" cy="1062228"/>
          </a:xfrm>
          <a:prstGeom prst="rect">
            <a:avLst/>
          </a:prstGeom>
          <a:ln w="12700">
            <a:solidFill>
              <a:srgbClr val="D1D5DB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132320" y="2834640"/>
            <a:ext cx="4389120" cy="1062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Customer still in use: delete refused</a:t>
            </a:r>
            <a:endParaRPr lang="en-US" sz="1700" dirty="0"/>
          </a:p>
        </p:txBody>
      </p:sp>
      <p:pic>
        <p:nvPicPr>
          <p:cNvPr id="9" name="Image 2" descr="Vehicle already inside: entry refus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251960"/>
            <a:ext cx="6217920" cy="1191768"/>
          </a:xfrm>
          <a:prstGeom prst="rect">
            <a:avLst/>
          </a:prstGeom>
        </p:spPr>
      </p:pic>
      <p:sp>
        <p:nvSpPr>
          <p:cNvPr id="10" name="Error border"/>
          <p:cNvSpPr/>
          <p:nvPr/>
        </p:nvSpPr>
        <p:spPr>
          <a:xfrm>
            <a:off x="640080" y="4251960"/>
            <a:ext cx="6217920" cy="1191768"/>
          </a:xfrm>
          <a:prstGeom prst="rect">
            <a:avLst/>
          </a:prstGeom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7132320" y="4251960"/>
            <a:ext cx="4389120" cy="1191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Vehicle already inside: entry refused</a:t>
            </a:r>
            <a:endParaRPr lang="en-US" sz="1700" dirty="0"/>
          </a:p>
        </p:txBody>
      </p:sp>
      <p:sp>
        <p:nvSpPr>
          <p:cNvPr id="12" name="Text 7"/>
          <p:cNvSpPr txBox="1"/>
          <p:nvPr/>
        </p:nvSpPr>
        <p:spPr>
          <a:xfrm>
            <a:off x="640080" y="56692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Every MySQL error (duplicate, CHECK, foreign key, rule trigger, lost connection) becomes one plain sentence in red. Unexpected problems are caught too, so the window never closes by itself.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Reports and charts</a:t>
            </a:r>
            <a:endParaRPr lang="en-US" sz="3400" dirty="0"/>
          </a:p>
        </p:txBody>
      </p:sp>
      <p:pic>
        <p:nvPicPr>
          <p:cNvPr id="3" name="Image 0" descr="Peak hours repo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71600"/>
            <a:ext cx="5364480" cy="3017520"/>
          </a:xfrm>
          <a:prstGeom prst="rect">
            <a:avLst/>
          </a:prstGeom>
        </p:spPr>
      </p:pic>
      <p:sp>
        <p:nvSpPr>
          <p:cNvPr id="4" name="Screenshot border"/>
          <p:cNvSpPr/>
          <p:nvPr/>
        </p:nvSpPr>
        <p:spPr>
          <a:xfrm>
            <a:off x="640080" y="1371600"/>
            <a:ext cx="5364480" cy="3017520"/>
          </a:xfrm>
          <a:prstGeom prst="rect">
            <a:avLst/>
          </a:prstGeom>
          <a:ln w="12700">
            <a:solidFill>
              <a:srgbClr val="D1D5DB"/>
            </a:solidFill>
            <a:prstDash val="solid"/>
          </a:ln>
        </p:spPr>
      </p:sp>
      <p:pic>
        <p:nvPicPr>
          <p:cNvPr id="5" name="Image 1" descr="Revenue repor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371600"/>
            <a:ext cx="5364480" cy="3017520"/>
          </a:xfrm>
          <a:prstGeom prst="rect">
            <a:avLst/>
          </a:prstGeom>
        </p:spPr>
      </p:pic>
      <p:sp>
        <p:nvSpPr>
          <p:cNvPr id="6" name="Screenshot border"/>
          <p:cNvSpPr/>
          <p:nvPr/>
        </p:nvSpPr>
        <p:spPr>
          <a:xfrm>
            <a:off x="6309360" y="1371600"/>
            <a:ext cx="5364480" cy="3017520"/>
          </a:xfrm>
          <a:prstGeom prst="rect">
            <a:avLst/>
          </a:prstGeom>
          <a:ln w="12700">
            <a:solidFill>
              <a:srgbClr val="D1D5DB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40080" y="4572000"/>
            <a:ext cx="5303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Ten reports: occupancy, free slots, peak hours, longest stays, pass usage, violations, revenue by day, facility and method, unpaid bills.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6309360" y="4572000"/>
            <a:ext cx="5303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Each report is a query on a database view. Charts are drawn for peak hours, occupancy and revenue; any report can be exported to CSV.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Transactions and data integrity</a:t>
            </a:r>
            <a:endParaRPr lang="en-US" sz="3400" dirty="0"/>
          </a:p>
        </p:txBody>
      </p:sp>
      <p:sp>
        <p:nvSpPr>
          <p:cNvPr id="3" name="Code card"/>
          <p:cNvSpPr/>
          <p:nvPr/>
        </p:nvSpPr>
        <p:spPr>
          <a:xfrm>
            <a:off x="640080" y="1463040"/>
            <a:ext cx="5852160" cy="4480560"/>
          </a:xfrm>
          <a:prstGeom prst="roundRect">
            <a:avLst>
              <a:gd name="adj" fmla="val 2449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600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sp_vehicle_exit (simplified)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103120"/>
            <a:ext cx="5394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DECLARE EXIT HANDLER FOR SQLEXCEPTION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BEGIN ROLLBACK; RESIGNAL; END;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TRANSACTION;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UPDATE parking_session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SET exit_time = ...;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 v_tariff = fn_pick_tariff(...);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 no tariff? raise an error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INSERT INTO bill ...;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COMMIT;</a:t>
            </a:r>
            <a:endParaRPr lang="en-US" sz="1400" dirty="0"/>
          </a:p>
        </p:txBody>
      </p:sp>
      <p:sp>
        <p:nvSpPr>
          <p:cNvPr id="6" name="Point card 1"/>
          <p:cNvSpPr/>
          <p:nvPr/>
        </p:nvSpPr>
        <p:spPr>
          <a:xfrm>
            <a:off x="6766560" y="1463040"/>
            <a:ext cx="475488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040880" y="15727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Exit and bill together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040880" y="196596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If the bill cannot be created, the exit time is undone. A vehicle is never left exited but unbilled.</a:t>
            </a:r>
            <a:endParaRPr lang="en-US" sz="1300" dirty="0"/>
          </a:p>
        </p:txBody>
      </p:sp>
      <p:sp>
        <p:nvSpPr>
          <p:cNvPr id="9" name="Point card 2"/>
          <p:cNvSpPr/>
          <p:nvPr/>
        </p:nvSpPr>
        <p:spPr>
          <a:xfrm>
            <a:off x="6766560" y="3017520"/>
            <a:ext cx="475488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040880" y="312724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Proved by a test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040880" y="352044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A vehicle type with no tariff is billed: the session stays open and no bill exists.</a:t>
            </a:r>
            <a:endParaRPr lang="en-US" sz="1300" dirty="0"/>
          </a:p>
        </p:txBody>
      </p:sp>
      <p:sp>
        <p:nvSpPr>
          <p:cNvPr id="12" name="Point card 3"/>
          <p:cNvSpPr/>
          <p:nvPr/>
        </p:nvSpPr>
        <p:spPr>
          <a:xfrm>
            <a:off x="6766560" y="4572000"/>
            <a:ext cx="475488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040880" y="46817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statements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040880" y="507492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An INSERT and the triggers it fires succeed or fail as one unit.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Systematic testing</a:t>
            </a:r>
            <a:endParaRPr lang="en-US" sz="3400" dirty="0"/>
          </a:p>
        </p:txBody>
      </p:sp>
      <p:sp>
        <p:nvSpPr>
          <p:cNvPr id="3" name="Test stat 1"/>
          <p:cNvSpPr/>
          <p:nvPr/>
        </p:nvSpPr>
        <p:spPr>
          <a:xfrm>
            <a:off x="640080" y="1463040"/>
            <a:ext cx="3474720" cy="146304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46304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5000" dirty="0"/>
          </a:p>
        </p:txBody>
      </p:sp>
      <p:sp>
        <p:nvSpPr>
          <p:cNvPr id="5" name="Text 3"/>
          <p:cNvSpPr txBox="1"/>
          <p:nvPr/>
        </p:nvSpPr>
        <p:spPr>
          <a:xfrm>
            <a:off x="2286000" y="146304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</a:rPr>
              <a:t>automated tests</a:t>
            </a:r>
            <a:endParaRPr lang="en-US" sz="1700" dirty="0"/>
          </a:p>
        </p:txBody>
      </p:sp>
      <p:sp>
        <p:nvSpPr>
          <p:cNvPr id="6" name="Test stat 2"/>
          <p:cNvSpPr/>
          <p:nvPr/>
        </p:nvSpPr>
        <p:spPr>
          <a:xfrm>
            <a:off x="4389120" y="1463040"/>
            <a:ext cx="3474720" cy="146304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663440" y="146304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50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146304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</a:rPr>
              <a:t>database rule tests</a:t>
            </a:r>
            <a:endParaRPr lang="en-US" sz="1700" dirty="0"/>
          </a:p>
        </p:txBody>
      </p:sp>
      <p:sp>
        <p:nvSpPr>
          <p:cNvPr id="9" name="Test stat 3"/>
          <p:cNvSpPr/>
          <p:nvPr/>
        </p:nvSpPr>
        <p:spPr>
          <a:xfrm>
            <a:off x="8138160" y="1463040"/>
            <a:ext cx="3474720" cy="146304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412480" y="146304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</a:t>
            </a:r>
            <a:endParaRPr lang="en-US" sz="5000" dirty="0"/>
          </a:p>
        </p:txBody>
      </p:sp>
      <p:sp>
        <p:nvSpPr>
          <p:cNvPr id="11" name="Text 9"/>
          <p:cNvSpPr txBox="1"/>
          <p:nvPr/>
        </p:nvSpPr>
        <p:spPr>
          <a:xfrm>
            <a:off x="9784080" y="146304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</a:rPr>
              <a:t>screen workflow checks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154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23 automated tests cover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611880"/>
            <a:ext cx="6583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Billing: hourly rounding, one-hour minimum, daily cap, pass holders pay Rs 0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Gate: correct slot type, double entry refused, reservation used automatically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Payments: part payment, overpayment refused, status changes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CRUD with duplicates, invalid input and in-use records refused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All 10 reports, tariffs, passes, slot maintenance, transaction rollback; 58 screen checks at 100%, 150% and 200% zoom</a:t>
            </a:r>
            <a:endParaRPr lang="en-US" sz="1500" dirty="0"/>
          </a:p>
        </p:txBody>
      </p:sp>
      <p:sp>
        <p:nvSpPr>
          <p:cNvPr id="14" name="Bug card"/>
          <p:cNvSpPr/>
          <p:nvPr/>
        </p:nvSpPr>
        <p:spPr>
          <a:xfrm>
            <a:off x="7498080" y="3154680"/>
            <a:ext cx="40233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0" y="3291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bug the tests found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0" y="374904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The allocator could pick a slot still blocked by a stay with a later exit time. It now skips such slots. The fix is in sp_allocate_slot.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Summary and future work</a:t>
            </a:r>
            <a:endParaRPr lang="en-US" sz="3400" dirty="0"/>
          </a:p>
        </p:txBody>
      </p:sp>
      <p:sp>
        <p:nvSpPr>
          <p:cNvPr id="3" name="Delivered card"/>
          <p:cNvSpPr/>
          <p:nvPr/>
        </p:nvSpPr>
        <p:spPr>
          <a:xfrm>
            <a:off x="640080" y="1554480"/>
            <a:ext cx="5303520" cy="448056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7373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Delivered</a:t>
            </a:r>
            <a:endParaRPr lang="en-US" sz="2200" dirty="0"/>
          </a:p>
        </p:txBody>
      </p:sp>
      <p:pic>
        <p:nvPicPr>
          <p:cNvPr id="5" name="Image 0" descr="Do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377440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2286000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Normalized 13-table MySQL database</a:t>
            </a:r>
            <a:endParaRPr lang="en-US" sz="1600" dirty="0"/>
          </a:p>
        </p:txBody>
      </p:sp>
      <p:pic>
        <p:nvPicPr>
          <p:cNvPr id="7" name="Image 1" descr="Do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054096"/>
            <a:ext cx="292608" cy="29260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71600" y="2962656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Business rules inside the database</a:t>
            </a:r>
            <a:endParaRPr lang="en-US" sz="1600" dirty="0"/>
          </a:p>
        </p:txBody>
      </p:sp>
      <p:pic>
        <p:nvPicPr>
          <p:cNvPr id="9" name="Image 2" descr="Do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730752"/>
            <a:ext cx="292608" cy="29260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371600" y="3639312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Python app: 10 pages, zoom 80% to 200%</a:t>
            </a:r>
            <a:endParaRPr lang="en-US" sz="1600" dirty="0"/>
          </a:p>
        </p:txBody>
      </p:sp>
      <p:pic>
        <p:nvPicPr>
          <p:cNvPr id="11" name="Image 3" descr="Do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407408"/>
            <a:ext cx="292608" cy="2926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371600" y="4315968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Sharp text, validation, friendly errors, reports</a:t>
            </a:r>
            <a:endParaRPr lang="en-US" sz="1600" dirty="0"/>
          </a:p>
        </p:txBody>
      </p:sp>
      <p:pic>
        <p:nvPicPr>
          <p:cNvPr id="13" name="Image 4" descr="Do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084064"/>
            <a:ext cx="292608" cy="292608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371600" y="4992624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Tests, screenshots, documents, GitHub repository</a:t>
            </a:r>
            <a:endParaRPr lang="en-US" sz="1600" dirty="0"/>
          </a:p>
        </p:txBody>
      </p:sp>
      <p:sp>
        <p:nvSpPr>
          <p:cNvPr id="15" name="Future card"/>
          <p:cNvSpPr/>
          <p:nvPr/>
        </p:nvSpPr>
        <p:spPr>
          <a:xfrm>
            <a:off x="6245352" y="1554480"/>
            <a:ext cx="5303520" cy="4480560"/>
          </a:xfrm>
          <a:prstGeom prst="roundRect">
            <a:avLst>
              <a:gd name="adj" fmla="val 2449"/>
            </a:avLst>
          </a:prstGeom>
          <a:solidFill>
            <a:schemeClr val="tx2"/>
          </a:solidFill>
          <a:ln/>
        </p:spPr>
      </p:sp>
      <p:sp>
        <p:nvSpPr>
          <p:cNvPr id="16" name="Text 9"/>
          <p:cNvSpPr txBox="1"/>
          <p:nvPr/>
        </p:nvSpPr>
        <p:spPr>
          <a:xfrm>
            <a:off x="6519672" y="17373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6519672" y="2286000"/>
            <a:ext cx="47548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Number plate reading at the gate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Online and QR payments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Web or mobile front end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Logins and roles per user type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Dynamic pricing for peak hours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mart Parking">
  <a:themeElements>
    <a:clrScheme name="Smart Parking">
      <a:dk1>
        <a:srgbClr val="111827"/>
      </a:dk1>
      <a:lt1>
        <a:srgbClr val="FFFFFF"/>
      </a:lt1>
      <a:dk2>
        <a:srgbClr val="1F2937"/>
      </a:dk2>
      <a:lt2>
        <a:srgbClr val="F3F4F6"/>
      </a:lt2>
      <a:accent1>
        <a:srgbClr val="F5B301"/>
      </a:accent1>
      <a:accent2>
        <a:srgbClr val="0F766E"/>
      </a:accent2>
      <a:accent3>
        <a:srgbClr val="B45309"/>
      </a:accent3>
      <a:accent4>
        <a:srgbClr val="6B7280"/>
      </a:accent4>
      <a:accent5>
        <a:srgbClr val="374151"/>
      </a:accent5>
      <a:accent6>
        <a:srgbClr val="D1D5DB"/>
      </a:accent6>
      <a:hlink>
        <a:srgbClr val="0F766E"/>
      </a:hlink>
      <a:folHlink>
        <a:srgbClr val="6B7280"/>
      </a:folHlink>
    </a:clrScheme>
    <a:fontScheme name="Smart Parking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1255</Words>
  <Application>Microsoft Office PowerPoint</Application>
  <PresentationFormat>Widescreen</PresentationFormat>
  <Paragraphs>217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</vt:lpstr>
      <vt:lpstr>Courier New</vt:lpstr>
      <vt:lpstr>Smart Parking</vt:lpstr>
      <vt:lpstr>Design and Implementation of a Database Management System for Smart Parking Lot Allocation and Billing System</vt:lpstr>
      <vt:lpstr>From design to a working system</vt:lpstr>
      <vt:lpstr>Architecture: three layers</vt:lpstr>
      <vt:lpstr>A consistent design system</vt:lpstr>
      <vt:lpstr>Dashboard</vt:lpstr>
      <vt:lpstr>Clear text and zoom from 80% to 200%</vt:lpstr>
      <vt:lpstr>Gate entry and automatic slot allocation</vt:lpstr>
      <vt:lpstr>Duration billing and payment</vt:lpstr>
      <vt:lpstr>Reservations and passes</vt:lpstr>
      <vt:lpstr>CRUD operations and search</vt:lpstr>
      <vt:lpstr>Input validation in two layers</vt:lpstr>
      <vt:lpstr>Error handling: clear messages, no crashes</vt:lpstr>
      <vt:lpstr>Reports and charts</vt:lpstr>
      <vt:lpstr>Transactions and data integrity</vt:lpstr>
      <vt:lpstr>Systematic testing</vt:lpstr>
      <vt:lpstr>Summary and future work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Parking DBMS - Review 3</dc:title>
  <dc:subject>PptxGenJS Presentation</dc:subject>
  <dc:creator>PptxGenJS</dc:creator>
  <cp:lastModifiedBy>Snigdha Choudary Devalla</cp:lastModifiedBy>
  <cp:revision>2</cp:revision>
  <dcterms:created xsi:type="dcterms:W3CDTF">2026-10-14T03:25:22Z</dcterms:created>
  <dcterms:modified xsi:type="dcterms:W3CDTF">2026-10-14T18:17:59Z</dcterms:modified>
</cp:coreProperties>
</file>